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Agrandir" panose="020B0604020202020204" charset="0"/>
      <p:regular r:id="rId25"/>
    </p:embeddedFont>
    <p:embeddedFont>
      <p:font typeface="Agrandir Bold" panose="020B0604020202020204" charset="0"/>
      <p:regular r:id="rId26"/>
    </p:embeddedFont>
    <p:embeddedFont>
      <p:font typeface="Agrandir Medium" panose="020B0604020202020204" charset="0"/>
      <p:regular r:id="rId27"/>
    </p:embeddedFont>
    <p:embeddedFont>
      <p:font typeface="Open Sans" panose="020F0502020204030204" pitchFamily="34" charset="0"/>
      <p:regular r:id="rId28"/>
    </p:embeddedFont>
    <p:embeddedFont>
      <p:font typeface="Open Sans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157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01A654-6C6D-4472-85B2-5F9D115FB0E2}"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A8B6D3-69CA-473C-A1F2-C58E31CC0E1E}" type="slidenum">
              <a:rPr lang="en-US" smtClean="0"/>
              <a:t>‹#›</a:t>
            </a:fld>
            <a:endParaRPr lang="en-US"/>
          </a:p>
        </p:txBody>
      </p:sp>
    </p:spTree>
    <p:extLst>
      <p:ext uri="{BB962C8B-B14F-4D97-AF65-F5344CB8AC3E}">
        <p14:creationId xmlns:p14="http://schemas.microsoft.com/office/powerpoint/2010/main" val="2984423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A8B6D3-69CA-473C-A1F2-C58E31CC0E1E}" type="slidenum">
              <a:rPr lang="en-US" smtClean="0"/>
              <a:t>19</a:t>
            </a:fld>
            <a:endParaRPr lang="en-US"/>
          </a:p>
        </p:txBody>
      </p:sp>
    </p:spTree>
    <p:extLst>
      <p:ext uri="{BB962C8B-B14F-4D97-AF65-F5344CB8AC3E}">
        <p14:creationId xmlns:p14="http://schemas.microsoft.com/office/powerpoint/2010/main" val="1001798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hyperlink" Target="https://lookerstudio.google.com/reporting/34ae66fb-c782-44ea-9aa5-10119576b093" TargetMode="Externa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2726141" y="4725141"/>
            <a:ext cx="11123717" cy="11123717"/>
          </a:xfrm>
          <a:custGeom>
            <a:avLst/>
            <a:gdLst/>
            <a:ahLst/>
            <a:cxnLst/>
            <a:rect l="l" t="t" r="r" b="b"/>
            <a:pathLst>
              <a:path w="11123717" h="11123717">
                <a:moveTo>
                  <a:pt x="0" y="0"/>
                </a:moveTo>
                <a:lnTo>
                  <a:pt x="11123718" y="0"/>
                </a:lnTo>
                <a:lnTo>
                  <a:pt x="11123718" y="11123718"/>
                </a:lnTo>
                <a:lnTo>
                  <a:pt x="0" y="11123718"/>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a:off x="6573338" y="0"/>
            <a:ext cx="12305606" cy="15382008"/>
          </a:xfrm>
          <a:custGeom>
            <a:avLst/>
            <a:gdLst/>
            <a:ahLst/>
            <a:cxnLst/>
            <a:rect l="l" t="t" r="r" b="b"/>
            <a:pathLst>
              <a:path w="12305606" h="15382008">
                <a:moveTo>
                  <a:pt x="0" y="0"/>
                </a:moveTo>
                <a:lnTo>
                  <a:pt x="12305607" y="0"/>
                </a:lnTo>
                <a:lnTo>
                  <a:pt x="12305607" y="15382008"/>
                </a:lnTo>
                <a:lnTo>
                  <a:pt x="0" y="15382008"/>
                </a:lnTo>
                <a:lnTo>
                  <a:pt x="0" y="0"/>
                </a:lnTo>
                <a:close/>
              </a:path>
            </a:pathLst>
          </a:custGeom>
          <a:blipFill>
            <a:blip>
              <a:alphaModFix amt="40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5" name="TextBox 5"/>
          <p:cNvSpPr txBox="1"/>
          <p:nvPr/>
        </p:nvSpPr>
        <p:spPr>
          <a:xfrm>
            <a:off x="2051108" y="4221468"/>
            <a:ext cx="14105004" cy="4171950"/>
          </a:xfrm>
          <a:prstGeom prst="rect">
            <a:avLst/>
          </a:prstGeom>
        </p:spPr>
        <p:txBody>
          <a:bodyPr lIns="0" tIns="0" rIns="0" bIns="0" rtlCol="0" anchor="t">
            <a:spAutoFit/>
          </a:bodyPr>
          <a:lstStyle/>
          <a:p>
            <a:pPr algn="just">
              <a:lnSpc>
                <a:spcPts val="10500"/>
              </a:lnSpc>
            </a:pPr>
            <a:r>
              <a:rPr lang="en-US" sz="7500" b="1">
                <a:solidFill>
                  <a:srgbClr val="1C4439"/>
                </a:solidFill>
                <a:latin typeface="Agrandir Medium"/>
                <a:ea typeface="Agrandir Medium"/>
                <a:cs typeface="Agrandir Medium"/>
                <a:sym typeface="Agrandir Medium"/>
              </a:rPr>
              <a:t>Entregable final proyecto empresa aliada</a:t>
            </a:r>
          </a:p>
          <a:p>
            <a:pPr algn="just">
              <a:lnSpc>
                <a:spcPts val="10500"/>
              </a:lnSpc>
              <a:spcBef>
                <a:spcPct val="0"/>
              </a:spcBef>
            </a:pPr>
            <a:r>
              <a:rPr lang="en-US" sz="7500" b="1">
                <a:solidFill>
                  <a:srgbClr val="1C4439"/>
                </a:solidFill>
                <a:latin typeface="Agrandir Medium"/>
                <a:ea typeface="Agrandir Medium"/>
                <a:cs typeface="Agrandir Medium"/>
                <a:sym typeface="Agrandir Medium"/>
              </a:rPr>
              <a:t>Data Analyst </a:t>
            </a:r>
          </a:p>
        </p:txBody>
      </p:sp>
      <p:sp>
        <p:nvSpPr>
          <p:cNvPr id="6" name="TextBox 6"/>
          <p:cNvSpPr txBox="1"/>
          <p:nvPr/>
        </p:nvSpPr>
        <p:spPr>
          <a:xfrm>
            <a:off x="2051108" y="8607732"/>
            <a:ext cx="3990155" cy="701675"/>
          </a:xfrm>
          <a:prstGeom prst="rect">
            <a:avLst/>
          </a:prstGeom>
        </p:spPr>
        <p:txBody>
          <a:bodyPr lIns="0" tIns="0" rIns="0" bIns="0" rtlCol="0" anchor="t">
            <a:spAutoFit/>
          </a:bodyPr>
          <a:lstStyle/>
          <a:p>
            <a:pPr algn="l">
              <a:lnSpc>
                <a:spcPts val="4900"/>
              </a:lnSpc>
              <a:spcBef>
                <a:spcPct val="0"/>
              </a:spcBef>
            </a:pPr>
            <a:r>
              <a:rPr lang="en-US" sz="3500">
                <a:solidFill>
                  <a:srgbClr val="091713"/>
                </a:solidFill>
                <a:latin typeface="Agrandir"/>
                <a:ea typeface="Agrandir"/>
                <a:cs typeface="Agrandir"/>
                <a:sym typeface="Agrandir"/>
              </a:rPr>
              <a:t>Dayhana Quintero</a:t>
            </a:r>
          </a:p>
        </p:txBody>
      </p:sp>
      <p:sp>
        <p:nvSpPr>
          <p:cNvPr id="7" name="Freeform 7"/>
          <p:cNvSpPr/>
          <p:nvPr/>
        </p:nvSpPr>
        <p:spPr>
          <a:xfrm>
            <a:off x="2051108" y="969741"/>
            <a:ext cx="645545" cy="645545"/>
          </a:xfrm>
          <a:custGeom>
            <a:avLst/>
            <a:gdLst/>
            <a:ahLst/>
            <a:cxnLst/>
            <a:rect l="l" t="t" r="r" b="b"/>
            <a:pathLst>
              <a:path w="645545" h="645545">
                <a:moveTo>
                  <a:pt x="0" y="0"/>
                </a:moveTo>
                <a:lnTo>
                  <a:pt x="645545" y="0"/>
                </a:lnTo>
                <a:lnTo>
                  <a:pt x="645545" y="645545"/>
                </a:lnTo>
                <a:lnTo>
                  <a:pt x="0" y="645545"/>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8" name="TextBox 8"/>
          <p:cNvSpPr txBox="1"/>
          <p:nvPr/>
        </p:nvSpPr>
        <p:spPr>
          <a:xfrm>
            <a:off x="3635403" y="901988"/>
            <a:ext cx="11017195" cy="3025774"/>
          </a:xfrm>
          <a:prstGeom prst="rect">
            <a:avLst/>
          </a:prstGeom>
        </p:spPr>
        <p:txBody>
          <a:bodyPr lIns="0" tIns="0" rIns="0" bIns="0" rtlCol="0" anchor="t">
            <a:spAutoFit/>
          </a:bodyPr>
          <a:lstStyle/>
          <a:p>
            <a:pPr algn="ctr">
              <a:lnSpc>
                <a:spcPts val="11200"/>
              </a:lnSpc>
              <a:spcBef>
                <a:spcPct val="0"/>
              </a:spcBef>
            </a:pPr>
            <a:r>
              <a:rPr lang="en-US" sz="8000" b="1">
                <a:solidFill>
                  <a:srgbClr val="3DA497"/>
                </a:solidFill>
                <a:latin typeface="Agrandir Bold"/>
                <a:ea typeface="Agrandir Bold"/>
                <a:cs typeface="Agrandir Bold"/>
                <a:sym typeface="Agrandir Bold"/>
              </a:rPr>
              <a:t>Análisis y Predicción de Ventas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10800000" flipH="1">
            <a:off x="-821531" y="9092740"/>
            <a:ext cx="19931061" cy="11221603"/>
          </a:xfrm>
          <a:custGeom>
            <a:avLst/>
            <a:gdLst/>
            <a:ahLst/>
            <a:cxnLst/>
            <a:rect l="l" t="t" r="r" b="b"/>
            <a:pathLst>
              <a:path w="19931061" h="11221603">
                <a:moveTo>
                  <a:pt x="19931062" y="0"/>
                </a:moveTo>
                <a:lnTo>
                  <a:pt x="0" y="0"/>
                </a:lnTo>
                <a:lnTo>
                  <a:pt x="0" y="11221603"/>
                </a:lnTo>
                <a:lnTo>
                  <a:pt x="19931062" y="11221603"/>
                </a:lnTo>
                <a:lnTo>
                  <a:pt x="19931062" y="0"/>
                </a:lnTo>
                <a:close/>
              </a:path>
            </a:pathLst>
          </a:custGeom>
          <a:blipFill>
            <a:blip>
              <a:extLst>
                <a:ext uri="{96DAC541-7B7A-43D3-8B79-37D633B846F1}">
                  <asvg:svgBlip xmlns:asvg="http://schemas.microsoft.com/office/drawing/2016/SVG/main" r:embed="rId2"/>
                </a:ext>
              </a:extLst>
            </a:blip>
            <a:stretch>
              <a:fillRect t="-18128" r="-18128"/>
            </a:stretch>
          </a:blipFill>
        </p:spPr>
        <p:txBody>
          <a:bodyPr/>
          <a:lstStyle/>
          <a:p>
            <a:endParaRPr lang="en-US"/>
          </a:p>
        </p:txBody>
      </p:sp>
      <p:sp>
        <p:nvSpPr>
          <p:cNvPr id="3" name="TextBox 3"/>
          <p:cNvSpPr txBox="1"/>
          <p:nvPr/>
        </p:nvSpPr>
        <p:spPr>
          <a:xfrm>
            <a:off x="618310" y="547033"/>
            <a:ext cx="5424074" cy="1301750"/>
          </a:xfrm>
          <a:prstGeom prst="rect">
            <a:avLst/>
          </a:prstGeom>
        </p:spPr>
        <p:txBody>
          <a:bodyPr lIns="0" tIns="0" rIns="0" bIns="0" rtlCol="0" anchor="t">
            <a:spAutoFit/>
          </a:bodyPr>
          <a:lstStyle/>
          <a:p>
            <a:pPr algn="l">
              <a:lnSpc>
                <a:spcPts val="9100"/>
              </a:lnSpc>
              <a:spcBef>
                <a:spcPct val="0"/>
              </a:spcBef>
            </a:pPr>
            <a:r>
              <a:rPr lang="en-US" sz="6500" b="1">
                <a:solidFill>
                  <a:srgbClr val="1C4439"/>
                </a:solidFill>
                <a:latin typeface="Agrandir Bold"/>
                <a:ea typeface="Agrandir Bold"/>
                <a:cs typeface="Agrandir Bold"/>
                <a:sym typeface="Agrandir Bold"/>
              </a:rPr>
              <a:t>Introducción</a:t>
            </a:r>
          </a:p>
        </p:txBody>
      </p:sp>
      <p:sp>
        <p:nvSpPr>
          <p:cNvPr id="4" name="TextBox 4"/>
          <p:cNvSpPr txBox="1"/>
          <p:nvPr/>
        </p:nvSpPr>
        <p:spPr>
          <a:xfrm>
            <a:off x="1028700" y="1902697"/>
            <a:ext cx="15788527" cy="5426075"/>
          </a:xfrm>
          <a:prstGeom prst="rect">
            <a:avLst/>
          </a:prstGeom>
        </p:spPr>
        <p:txBody>
          <a:bodyPr lIns="0" tIns="0" rIns="0" bIns="0" rtlCol="0" anchor="t">
            <a:spAutoFit/>
          </a:bodyPr>
          <a:lstStyle/>
          <a:p>
            <a:pPr algn="just">
              <a:lnSpc>
                <a:spcPts val="7000"/>
              </a:lnSpc>
              <a:spcBef>
                <a:spcPct val="0"/>
              </a:spcBef>
            </a:pPr>
            <a:r>
              <a:rPr lang="en-US" sz="5000">
                <a:solidFill>
                  <a:srgbClr val="000000"/>
                </a:solidFill>
                <a:latin typeface="Agrandir"/>
                <a:ea typeface="Agrandir"/>
                <a:cs typeface="Agrandir"/>
                <a:sym typeface="Agrandir"/>
              </a:rPr>
              <a:t>El objetivo de este proyecto es analizar el desempeño de ventas de productos en distintas categorías, regiones y segmentos, con el fin de identificar patrones, generar insights y realizar predicciones que apoyen la toma de decisiones estratégicas.</a:t>
            </a:r>
          </a:p>
        </p:txBody>
      </p:sp>
      <p:sp>
        <p:nvSpPr>
          <p:cNvPr id="5" name="Freeform 5"/>
          <p:cNvSpPr/>
          <p:nvPr/>
        </p:nvSpPr>
        <p:spPr>
          <a:xfrm>
            <a:off x="16817227" y="419286"/>
            <a:ext cx="884145" cy="884145"/>
          </a:xfrm>
          <a:custGeom>
            <a:avLst/>
            <a:gdLst/>
            <a:ahLst/>
            <a:cxnLst/>
            <a:rect l="l" t="t" r="r" b="b"/>
            <a:pathLst>
              <a:path w="884145" h="884145">
                <a:moveTo>
                  <a:pt x="0" y="0"/>
                </a:moveTo>
                <a:lnTo>
                  <a:pt x="884146" y="0"/>
                </a:lnTo>
                <a:lnTo>
                  <a:pt x="884146" y="884145"/>
                </a:lnTo>
                <a:lnTo>
                  <a:pt x="0" y="884145"/>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3816869" y="-1565715"/>
            <a:ext cx="4964197" cy="4964197"/>
          </a:xfrm>
          <a:custGeom>
            <a:avLst/>
            <a:gdLst/>
            <a:ahLst/>
            <a:cxnLst/>
            <a:rect l="l" t="t" r="r" b="b"/>
            <a:pathLst>
              <a:path w="4964197" h="4964197">
                <a:moveTo>
                  <a:pt x="0" y="0"/>
                </a:moveTo>
                <a:lnTo>
                  <a:pt x="4964197" y="0"/>
                </a:lnTo>
                <a:lnTo>
                  <a:pt x="4964197" y="4964197"/>
                </a:lnTo>
                <a:lnTo>
                  <a:pt x="0" y="4964197"/>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AutoShape 4"/>
          <p:cNvSpPr/>
          <p:nvPr/>
        </p:nvSpPr>
        <p:spPr>
          <a:xfrm flipV="1">
            <a:off x="2822743" y="4284628"/>
            <a:ext cx="6219160" cy="0"/>
          </a:xfrm>
          <a:prstGeom prst="line">
            <a:avLst/>
          </a:prstGeom>
          <a:ln w="38100" cap="flat">
            <a:gradFill>
              <a:gsLst>
                <a:gs pos="0">
                  <a:srgbClr val="6EC8BD">
                    <a:alpha val="100000"/>
                  </a:srgbClr>
                </a:gs>
                <a:gs pos="100000">
                  <a:srgbClr val="2F6359">
                    <a:alpha val="100000"/>
                  </a:srgbClr>
                </a:gs>
              </a:gsLst>
              <a:lin ang="0"/>
            </a:gradFill>
            <a:prstDash val="solid"/>
            <a:headEnd type="none" w="sm" len="sm"/>
            <a:tailEnd type="none" w="sm" len="sm"/>
          </a:ln>
        </p:spPr>
        <p:txBody>
          <a:bodyPr/>
          <a:lstStyle/>
          <a:p>
            <a:endParaRPr lang="en-US"/>
          </a:p>
        </p:txBody>
      </p:sp>
      <p:sp>
        <p:nvSpPr>
          <p:cNvPr id="5" name="AutoShape 5"/>
          <p:cNvSpPr/>
          <p:nvPr/>
        </p:nvSpPr>
        <p:spPr>
          <a:xfrm flipV="1">
            <a:off x="10079807" y="6916096"/>
            <a:ext cx="6219160" cy="0"/>
          </a:xfrm>
          <a:prstGeom prst="line">
            <a:avLst/>
          </a:prstGeom>
          <a:ln w="38100" cap="flat">
            <a:gradFill>
              <a:gsLst>
                <a:gs pos="0">
                  <a:srgbClr val="6EC8BD">
                    <a:alpha val="100000"/>
                  </a:srgbClr>
                </a:gs>
                <a:gs pos="100000">
                  <a:srgbClr val="2F6359">
                    <a:alpha val="100000"/>
                  </a:srgbClr>
                </a:gs>
              </a:gsLst>
              <a:lin ang="0"/>
            </a:gradFill>
            <a:prstDash val="solid"/>
            <a:headEnd type="none" w="sm" len="sm"/>
            <a:tailEnd type="none" w="sm" len="sm"/>
          </a:ln>
        </p:spPr>
        <p:txBody>
          <a:bodyPr/>
          <a:lstStyle/>
          <a:p>
            <a:endParaRPr lang="en-US"/>
          </a:p>
        </p:txBody>
      </p:sp>
      <p:sp>
        <p:nvSpPr>
          <p:cNvPr id="6" name="AutoShape 6"/>
          <p:cNvSpPr/>
          <p:nvPr/>
        </p:nvSpPr>
        <p:spPr>
          <a:xfrm flipV="1">
            <a:off x="2822743" y="5741011"/>
            <a:ext cx="6219160" cy="0"/>
          </a:xfrm>
          <a:prstGeom prst="line">
            <a:avLst/>
          </a:prstGeom>
          <a:ln w="38100" cap="flat">
            <a:gradFill>
              <a:gsLst>
                <a:gs pos="0">
                  <a:srgbClr val="6EC8BD">
                    <a:alpha val="100000"/>
                  </a:srgbClr>
                </a:gs>
                <a:gs pos="100000">
                  <a:srgbClr val="2F6359">
                    <a:alpha val="100000"/>
                  </a:srgbClr>
                </a:gs>
              </a:gsLst>
              <a:lin ang="0"/>
            </a:gradFill>
            <a:prstDash val="solid"/>
            <a:headEnd type="none" w="sm" len="sm"/>
            <a:tailEnd type="none" w="sm" len="sm"/>
          </a:ln>
        </p:spPr>
        <p:txBody>
          <a:bodyPr/>
          <a:lstStyle/>
          <a:p>
            <a:endParaRPr lang="en-US"/>
          </a:p>
        </p:txBody>
      </p:sp>
      <p:sp>
        <p:nvSpPr>
          <p:cNvPr id="7" name="AutoShape 7"/>
          <p:cNvSpPr/>
          <p:nvPr/>
        </p:nvSpPr>
        <p:spPr>
          <a:xfrm flipV="1">
            <a:off x="10079807" y="5459714"/>
            <a:ext cx="6219160" cy="0"/>
          </a:xfrm>
          <a:prstGeom prst="line">
            <a:avLst/>
          </a:prstGeom>
          <a:ln w="38100" cap="flat">
            <a:gradFill>
              <a:gsLst>
                <a:gs pos="0">
                  <a:srgbClr val="6EC8BD">
                    <a:alpha val="100000"/>
                  </a:srgbClr>
                </a:gs>
                <a:gs pos="100000">
                  <a:srgbClr val="2F6359">
                    <a:alpha val="100000"/>
                  </a:srgbClr>
                </a:gs>
              </a:gsLst>
              <a:lin ang="0"/>
            </a:gradFill>
            <a:prstDash val="solid"/>
            <a:headEnd type="none" w="sm" len="sm"/>
            <a:tailEnd type="none" w="sm" len="sm"/>
          </a:ln>
        </p:spPr>
        <p:txBody>
          <a:bodyPr/>
          <a:lstStyle/>
          <a:p>
            <a:endParaRPr lang="en-US"/>
          </a:p>
        </p:txBody>
      </p:sp>
      <p:sp>
        <p:nvSpPr>
          <p:cNvPr id="8" name="TextBox 8"/>
          <p:cNvSpPr txBox="1"/>
          <p:nvPr/>
        </p:nvSpPr>
        <p:spPr>
          <a:xfrm>
            <a:off x="1468122" y="714375"/>
            <a:ext cx="9707113" cy="1301750"/>
          </a:xfrm>
          <a:prstGeom prst="rect">
            <a:avLst/>
          </a:prstGeom>
        </p:spPr>
        <p:txBody>
          <a:bodyPr lIns="0" tIns="0" rIns="0" bIns="0" rtlCol="0" anchor="t">
            <a:spAutoFit/>
          </a:bodyPr>
          <a:lstStyle/>
          <a:p>
            <a:pPr algn="l">
              <a:lnSpc>
                <a:spcPts val="9100"/>
              </a:lnSpc>
              <a:spcBef>
                <a:spcPct val="0"/>
              </a:spcBef>
            </a:pPr>
            <a:r>
              <a:rPr lang="en-US" sz="6500" b="1">
                <a:solidFill>
                  <a:srgbClr val="1C4439"/>
                </a:solidFill>
                <a:latin typeface="Agrandir Medium"/>
                <a:ea typeface="Agrandir Medium"/>
                <a:cs typeface="Agrandir Medium"/>
                <a:sym typeface="Agrandir Medium"/>
              </a:rPr>
              <a:t>Herramientas utilizadas</a:t>
            </a:r>
          </a:p>
        </p:txBody>
      </p:sp>
      <p:sp>
        <p:nvSpPr>
          <p:cNvPr id="9" name="TextBox 9"/>
          <p:cNvSpPr txBox="1"/>
          <p:nvPr/>
        </p:nvSpPr>
        <p:spPr>
          <a:xfrm>
            <a:off x="4245639" y="3179407"/>
            <a:ext cx="4152081" cy="658753"/>
          </a:xfrm>
          <a:prstGeom prst="rect">
            <a:avLst/>
          </a:prstGeom>
        </p:spPr>
        <p:txBody>
          <a:bodyPr lIns="0" tIns="0" rIns="0" bIns="0" rtlCol="0" anchor="t">
            <a:spAutoFit/>
          </a:bodyPr>
          <a:lstStyle/>
          <a:p>
            <a:pPr algn="l">
              <a:lnSpc>
                <a:spcPts val="4640"/>
              </a:lnSpc>
              <a:spcBef>
                <a:spcPct val="0"/>
              </a:spcBef>
            </a:pPr>
            <a:r>
              <a:rPr lang="en-US" sz="3314">
                <a:solidFill>
                  <a:srgbClr val="091713"/>
                </a:solidFill>
                <a:latin typeface="Agrandir"/>
                <a:ea typeface="Agrandir"/>
                <a:cs typeface="Agrandir"/>
                <a:sym typeface="Agrandir"/>
              </a:rPr>
              <a:t>EXCEL</a:t>
            </a:r>
          </a:p>
        </p:txBody>
      </p:sp>
      <p:sp>
        <p:nvSpPr>
          <p:cNvPr id="10" name="TextBox 10"/>
          <p:cNvSpPr txBox="1"/>
          <p:nvPr/>
        </p:nvSpPr>
        <p:spPr>
          <a:xfrm>
            <a:off x="11502704" y="5810875"/>
            <a:ext cx="4152081" cy="658753"/>
          </a:xfrm>
          <a:prstGeom prst="rect">
            <a:avLst/>
          </a:prstGeom>
        </p:spPr>
        <p:txBody>
          <a:bodyPr lIns="0" tIns="0" rIns="0" bIns="0" rtlCol="0" anchor="t">
            <a:spAutoFit/>
          </a:bodyPr>
          <a:lstStyle/>
          <a:p>
            <a:pPr algn="l">
              <a:lnSpc>
                <a:spcPts val="4640"/>
              </a:lnSpc>
              <a:spcBef>
                <a:spcPct val="0"/>
              </a:spcBef>
            </a:pPr>
            <a:r>
              <a:rPr lang="en-US" sz="3314">
                <a:solidFill>
                  <a:srgbClr val="091713"/>
                </a:solidFill>
                <a:latin typeface="Agrandir"/>
                <a:ea typeface="Agrandir"/>
                <a:cs typeface="Agrandir"/>
                <a:sym typeface="Agrandir"/>
              </a:rPr>
              <a:t>AWS</a:t>
            </a:r>
          </a:p>
        </p:txBody>
      </p:sp>
      <p:sp>
        <p:nvSpPr>
          <p:cNvPr id="11" name="TextBox 11"/>
          <p:cNvSpPr txBox="1"/>
          <p:nvPr/>
        </p:nvSpPr>
        <p:spPr>
          <a:xfrm>
            <a:off x="4245639" y="4639547"/>
            <a:ext cx="4152081" cy="658753"/>
          </a:xfrm>
          <a:prstGeom prst="rect">
            <a:avLst/>
          </a:prstGeom>
        </p:spPr>
        <p:txBody>
          <a:bodyPr lIns="0" tIns="0" rIns="0" bIns="0" rtlCol="0" anchor="t">
            <a:spAutoFit/>
          </a:bodyPr>
          <a:lstStyle/>
          <a:p>
            <a:pPr algn="l">
              <a:lnSpc>
                <a:spcPts val="4640"/>
              </a:lnSpc>
              <a:spcBef>
                <a:spcPct val="0"/>
              </a:spcBef>
            </a:pPr>
            <a:r>
              <a:rPr lang="en-US" sz="3314">
                <a:solidFill>
                  <a:srgbClr val="091713"/>
                </a:solidFill>
                <a:latin typeface="Agrandir"/>
                <a:ea typeface="Agrandir"/>
                <a:cs typeface="Agrandir"/>
                <a:sym typeface="Agrandir"/>
              </a:rPr>
              <a:t>SQL</a:t>
            </a:r>
          </a:p>
        </p:txBody>
      </p:sp>
      <p:sp>
        <p:nvSpPr>
          <p:cNvPr id="12" name="TextBox 12"/>
          <p:cNvSpPr txBox="1"/>
          <p:nvPr/>
        </p:nvSpPr>
        <p:spPr>
          <a:xfrm>
            <a:off x="4245639" y="6099687"/>
            <a:ext cx="4152081" cy="658753"/>
          </a:xfrm>
          <a:prstGeom prst="rect">
            <a:avLst/>
          </a:prstGeom>
        </p:spPr>
        <p:txBody>
          <a:bodyPr lIns="0" tIns="0" rIns="0" bIns="0" rtlCol="0" anchor="t">
            <a:spAutoFit/>
          </a:bodyPr>
          <a:lstStyle/>
          <a:p>
            <a:pPr algn="l">
              <a:lnSpc>
                <a:spcPts val="4640"/>
              </a:lnSpc>
              <a:spcBef>
                <a:spcPct val="0"/>
              </a:spcBef>
            </a:pPr>
            <a:r>
              <a:rPr lang="en-US" sz="3314">
                <a:solidFill>
                  <a:srgbClr val="091713"/>
                </a:solidFill>
                <a:latin typeface="Agrandir"/>
                <a:ea typeface="Agrandir"/>
                <a:cs typeface="Agrandir"/>
                <a:sym typeface="Agrandir"/>
              </a:rPr>
              <a:t>PYTHON</a:t>
            </a:r>
          </a:p>
        </p:txBody>
      </p:sp>
      <p:sp>
        <p:nvSpPr>
          <p:cNvPr id="13" name="TextBox 13"/>
          <p:cNvSpPr txBox="1"/>
          <p:nvPr/>
        </p:nvSpPr>
        <p:spPr>
          <a:xfrm>
            <a:off x="11502704" y="4393809"/>
            <a:ext cx="3359539" cy="658753"/>
          </a:xfrm>
          <a:prstGeom prst="rect">
            <a:avLst/>
          </a:prstGeom>
        </p:spPr>
        <p:txBody>
          <a:bodyPr lIns="0" tIns="0" rIns="0" bIns="0" rtlCol="0" anchor="t">
            <a:spAutoFit/>
          </a:bodyPr>
          <a:lstStyle/>
          <a:p>
            <a:pPr algn="l">
              <a:lnSpc>
                <a:spcPts val="4640"/>
              </a:lnSpc>
              <a:spcBef>
                <a:spcPct val="0"/>
              </a:spcBef>
            </a:pPr>
            <a:r>
              <a:rPr lang="en-US" sz="3314">
                <a:solidFill>
                  <a:srgbClr val="091713"/>
                </a:solidFill>
                <a:latin typeface="Agrandir"/>
                <a:ea typeface="Agrandir"/>
                <a:cs typeface="Agrandir"/>
                <a:sym typeface="Agrandir"/>
              </a:rPr>
              <a:t>LOOKER STUDIO</a:t>
            </a:r>
          </a:p>
        </p:txBody>
      </p:sp>
      <p:sp>
        <p:nvSpPr>
          <p:cNvPr id="14" name="AutoShape 14"/>
          <p:cNvSpPr/>
          <p:nvPr/>
        </p:nvSpPr>
        <p:spPr>
          <a:xfrm flipV="1">
            <a:off x="2822743" y="7196590"/>
            <a:ext cx="6219160" cy="0"/>
          </a:xfrm>
          <a:prstGeom prst="line">
            <a:avLst/>
          </a:prstGeom>
          <a:ln w="38100" cap="flat">
            <a:gradFill>
              <a:gsLst>
                <a:gs pos="0">
                  <a:srgbClr val="6EC8BD">
                    <a:alpha val="100000"/>
                  </a:srgbClr>
                </a:gs>
                <a:gs pos="100000">
                  <a:srgbClr val="2F6359">
                    <a:alpha val="100000"/>
                  </a:srgbClr>
                </a:gs>
              </a:gsLst>
              <a:lin ang="0"/>
            </a:gradFill>
            <a:prstDash val="solid"/>
            <a:headEnd type="none" w="sm" len="sm"/>
            <a:tailEnd type="none" w="sm" len="sm"/>
          </a:ln>
        </p:spPr>
        <p:txBody>
          <a:bodyPr/>
          <a:lstStyle/>
          <a:p>
            <a:endParaRPr lang="en-US"/>
          </a:p>
        </p:txBody>
      </p:sp>
      <p:sp>
        <p:nvSpPr>
          <p:cNvPr id="15" name="TextBox 15"/>
          <p:cNvSpPr txBox="1"/>
          <p:nvPr/>
        </p:nvSpPr>
        <p:spPr>
          <a:xfrm>
            <a:off x="2159377" y="8244340"/>
            <a:ext cx="13969246" cy="1008180"/>
          </a:xfrm>
          <a:prstGeom prst="rect">
            <a:avLst/>
          </a:prstGeom>
        </p:spPr>
        <p:txBody>
          <a:bodyPr lIns="0" tIns="0" rIns="0" bIns="0" rtlCol="0" anchor="t">
            <a:spAutoFit/>
          </a:bodyPr>
          <a:lstStyle/>
          <a:p>
            <a:pPr algn="just">
              <a:lnSpc>
                <a:spcPts val="3756"/>
              </a:lnSpc>
              <a:spcBef>
                <a:spcPct val="0"/>
              </a:spcBef>
            </a:pPr>
            <a:r>
              <a:rPr lang="en-US" sz="2682">
                <a:solidFill>
                  <a:srgbClr val="091713"/>
                </a:solidFill>
                <a:latin typeface="Agrandir"/>
                <a:ea typeface="Agrandir"/>
                <a:cs typeface="Agrandir"/>
                <a:sym typeface="Agrandir"/>
              </a:rPr>
              <a:t>Cada herramienta fue utilizada en distintas etapas del análisis para cubrir desde la exploración hasta la generación de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91084" y="-62213"/>
            <a:ext cx="13962337" cy="1606549"/>
          </a:xfrm>
          <a:prstGeom prst="rect">
            <a:avLst/>
          </a:prstGeom>
        </p:spPr>
        <p:txBody>
          <a:bodyPr lIns="0" tIns="0" rIns="0" bIns="0" rtlCol="0" anchor="t">
            <a:spAutoFit/>
          </a:bodyPr>
          <a:lstStyle/>
          <a:p>
            <a:pPr algn="l">
              <a:lnSpc>
                <a:spcPts val="11200"/>
              </a:lnSpc>
              <a:spcBef>
                <a:spcPct val="0"/>
              </a:spcBef>
            </a:pPr>
            <a:r>
              <a:rPr lang="en-US" sz="8000"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Exploración inicial de datos</a:t>
            </a:r>
          </a:p>
        </p:txBody>
      </p:sp>
      <p:graphicFrame>
        <p:nvGraphicFramePr>
          <p:cNvPr id="4" name="Table 4"/>
          <p:cNvGraphicFramePr>
            <a:graphicFrameLocks noGrp="1"/>
          </p:cNvGraphicFramePr>
          <p:nvPr/>
        </p:nvGraphicFramePr>
        <p:xfrm>
          <a:off x="1618343" y="6007963"/>
          <a:ext cx="4678404" cy="3771900"/>
        </p:xfrm>
        <a:graphic>
          <a:graphicData uri="http://schemas.openxmlformats.org/drawingml/2006/table">
            <a:tbl>
              <a:tblPr/>
              <a:tblGrid>
                <a:gridCol w="1884860">
                  <a:extLst>
                    <a:ext uri="{9D8B030D-6E8A-4147-A177-3AD203B41FA5}">
                      <a16:colId xmlns:a16="http://schemas.microsoft.com/office/drawing/2014/main" val="20000"/>
                    </a:ext>
                  </a:extLst>
                </a:gridCol>
                <a:gridCol w="2793544">
                  <a:extLst>
                    <a:ext uri="{9D8B030D-6E8A-4147-A177-3AD203B41FA5}">
                      <a16:colId xmlns:a16="http://schemas.microsoft.com/office/drawing/2014/main" val="20001"/>
                    </a:ext>
                  </a:extLst>
                </a:gridCol>
              </a:tblGrid>
              <a:tr h="628650">
                <a:tc>
                  <a:txBody>
                    <a:bodyPr/>
                    <a:lstStyle/>
                    <a:p>
                      <a:pPr algn="l">
                        <a:lnSpc>
                          <a:spcPts val="2100"/>
                        </a:lnSpc>
                        <a:defRPr/>
                      </a:pPr>
                      <a:r>
                        <a:rPr lang="en-US" sz="1500" b="1">
                          <a:solidFill>
                            <a:srgbClr val="000000"/>
                          </a:solidFill>
                          <a:latin typeface="Open Sans Bold"/>
                          <a:ea typeface="Open Sans Bold"/>
                          <a:cs typeface="Open Sans Bold"/>
                          <a:sym typeface="Open Sans Bold"/>
                        </a:rPr>
                        <a:t>ID_CATEGORY</a:t>
                      </a:r>
                      <a:endParaRPr lang="en-US" sz="1100"/>
                    </a:p>
                  </a:txBody>
                  <a:tcPr marL="76200" marR="76200" marT="76200" marB="76200" anchor="ctr">
                    <a:lnL w="12668" cap="flat" cmpd="sng" algn="ctr">
                      <a:solidFill>
                        <a:srgbClr val="000000"/>
                      </a:solidFill>
                      <a:prstDash val="solid"/>
                      <a:round/>
                      <a:headEnd type="none" w="med" len="med"/>
                      <a:tailEnd type="none" w="med" len="med"/>
                    </a:lnL>
                    <a:lnR w="9525" cap="flat" cmpd="sng" algn="ctr">
                      <a:solidFill>
                        <a:srgbClr val="D9D9D9"/>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E49EDD"/>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CATEGORY</a:t>
                      </a:r>
                      <a:endParaRPr lang="en-US" sz="1100"/>
                    </a:p>
                  </a:txBody>
                  <a:tcPr marL="76200" marR="76200" marT="76200" marB="76200" anchor="ctr">
                    <a:lnL w="9525" cap="flat" cmpd="sng" algn="ctr">
                      <a:solidFill>
                        <a:srgbClr val="D9D9D9"/>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E49EDD"/>
                    </a:solidFill>
                  </a:tcPr>
                </a:tc>
                <a:extLst>
                  <a:ext uri="{0D108BD9-81ED-4DB2-BD59-A6C34878D82A}">
                    <a16:rowId xmlns:a16="http://schemas.microsoft.com/office/drawing/2014/main" val="10000"/>
                  </a:ext>
                </a:extLst>
              </a:tr>
              <a:tr h="628650">
                <a:tc>
                  <a:txBody>
                    <a:bodyPr/>
                    <a:lstStyle/>
                    <a:p>
                      <a:pPr algn="ctr">
                        <a:lnSpc>
                          <a:spcPts val="2100"/>
                        </a:lnSpc>
                        <a:defRPr/>
                      </a:pPr>
                      <a:r>
                        <a:rPr lang="en-US" sz="1500">
                          <a:solidFill>
                            <a:srgbClr val="000000"/>
                          </a:solidFill>
                          <a:latin typeface="Open Sans"/>
                          <a:ea typeface="Open Sans"/>
                          <a:cs typeface="Open Sans"/>
                          <a:sym typeface="Open Sans"/>
                        </a:rPr>
                        <a:t>1</a:t>
                      </a:r>
                      <a:endParaRPr lang="en-US" sz="1100"/>
                    </a:p>
                  </a:txBody>
                  <a:tcPr marL="76200" marR="76200" marT="76200" marB="76200" anchor="ctr">
                    <a:lnL w="12668" cap="flat" cmpd="sng" algn="ctr">
                      <a:solidFill>
                        <a:srgbClr val="000000"/>
                      </a:solidFill>
                      <a:prstDash val="solid"/>
                      <a:round/>
                      <a:headEnd type="none" w="med" len="med"/>
                      <a:tailEnd type="none" w="med" len="med"/>
                    </a:lnL>
                    <a:lnR w="9525" cap="flat" cmpd="sng" algn="ctr">
                      <a:solidFill>
                        <a:srgbClr val="D9D9D9"/>
                      </a:solidFill>
                      <a:prstDash val="solid"/>
                      <a:round/>
                      <a:headEnd type="none" w="med" len="med"/>
                      <a:tailEnd type="none" w="med" len="med"/>
                    </a:lnR>
                    <a:lnT w="12668" cap="flat" cmpd="sng" algn="ctr">
                      <a:solidFill>
                        <a:srgbClr val="000000"/>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1400"/>
                        </a:lnSpc>
                        <a:defRPr/>
                      </a:pPr>
                      <a:r>
                        <a:rPr lang="en-US" sz="1000">
                          <a:solidFill>
                            <a:srgbClr val="000000"/>
                          </a:solidFill>
                          <a:latin typeface="Open Sans"/>
                          <a:ea typeface="Open Sans"/>
                          <a:cs typeface="Open Sans"/>
                          <a:sym typeface="Open Sans"/>
                        </a:rPr>
                        <a:t>FABRIC TREATMENT and SANIT</a:t>
                      </a:r>
                      <a:endParaRPr lang="en-US" sz="1100"/>
                    </a:p>
                    <a:p>
                      <a:pPr algn="l">
                        <a:lnSpc>
                          <a:spcPts val="1400"/>
                        </a:lnSpc>
                      </a:pPr>
                      <a:r>
                        <a:rPr lang="en-US" sz="1000">
                          <a:solidFill>
                            <a:srgbClr val="000000"/>
                          </a:solidFill>
                          <a:latin typeface="Open Sans"/>
                          <a:ea typeface="Open Sans"/>
                          <a:cs typeface="Open Sans"/>
                          <a:sym typeface="Open Sans"/>
                        </a:rPr>
                        <a:t> </a:t>
                      </a:r>
                    </a:p>
                  </a:txBody>
                  <a:tcPr marL="76200" marR="76200" marT="76200" marB="76200" anchor="ctr">
                    <a:lnL w="9525" cap="flat" cmpd="sng" algn="ctr">
                      <a:solidFill>
                        <a:srgbClr val="D9D9D9"/>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28650">
                <a:tc>
                  <a:txBody>
                    <a:bodyPr/>
                    <a:lstStyle/>
                    <a:p>
                      <a:pPr algn="ctr">
                        <a:lnSpc>
                          <a:spcPts val="2100"/>
                        </a:lnSpc>
                        <a:defRPr/>
                      </a:pPr>
                      <a:r>
                        <a:rPr lang="en-US" sz="1500">
                          <a:solidFill>
                            <a:srgbClr val="000000"/>
                          </a:solidFill>
                          <a:latin typeface="Open Sans"/>
                          <a:ea typeface="Open Sans"/>
                          <a:cs typeface="Open Sans"/>
                          <a:sym typeface="Open Sans"/>
                        </a:rPr>
                        <a:t>2</a:t>
                      </a:r>
                      <a:endParaRPr lang="en-US" sz="1100"/>
                    </a:p>
                  </a:txBody>
                  <a:tcPr marL="76200" marR="76200" marT="76200" marB="76200" anchor="ctr">
                    <a:lnL w="12668" cap="flat" cmpd="sng" algn="ctr">
                      <a:solidFill>
                        <a:srgbClr val="000000"/>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Open Sans"/>
                          <a:ea typeface="Open Sans"/>
                          <a:cs typeface="Open Sans"/>
                          <a:sym typeface="Open Sans"/>
                        </a:rPr>
                        <a:t>AIR CARE </a:t>
                      </a:r>
                      <a:endParaRPr lang="en-US" sz="1100"/>
                    </a:p>
                  </a:txBody>
                  <a:tcPr marL="76200" marR="76200" marT="76200" marB="76200" anchor="ctr">
                    <a:lnL w="9525" cap="flat" cmpd="sng" algn="ctr">
                      <a:solidFill>
                        <a:srgbClr val="D9D9D9"/>
                      </a:solidFill>
                      <a:prstDash val="solid"/>
                      <a:round/>
                      <a:headEnd type="none" w="med" len="med"/>
                      <a:tailEnd type="none" w="med" len="med"/>
                    </a:lnL>
                    <a:lnR w="12668" cap="flat" cmpd="sng" algn="ctr">
                      <a:solidFill>
                        <a:srgbClr val="000000"/>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28650">
                <a:tc>
                  <a:txBody>
                    <a:bodyPr/>
                    <a:lstStyle/>
                    <a:p>
                      <a:pPr algn="ctr">
                        <a:lnSpc>
                          <a:spcPts val="2100"/>
                        </a:lnSpc>
                        <a:defRPr/>
                      </a:pPr>
                      <a:r>
                        <a:rPr lang="en-US" sz="1500">
                          <a:solidFill>
                            <a:srgbClr val="000000"/>
                          </a:solidFill>
                          <a:latin typeface="Open Sans"/>
                          <a:ea typeface="Open Sans"/>
                          <a:cs typeface="Open Sans"/>
                          <a:sym typeface="Open Sans"/>
                        </a:rPr>
                        <a:t>3</a:t>
                      </a:r>
                      <a:endParaRPr lang="en-US" sz="1100"/>
                    </a:p>
                  </a:txBody>
                  <a:tcPr marL="76200" marR="76200" marT="76200" marB="76200" anchor="ctr">
                    <a:lnL w="12668" cap="flat" cmpd="sng" algn="ctr">
                      <a:solidFill>
                        <a:srgbClr val="000000"/>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Open Sans"/>
                          <a:ea typeface="Open Sans"/>
                          <a:cs typeface="Open Sans"/>
                          <a:sym typeface="Open Sans"/>
                        </a:rPr>
                        <a:t>LAVAVAJILLAS</a:t>
                      </a:r>
                      <a:endParaRPr lang="en-US" sz="1100"/>
                    </a:p>
                  </a:txBody>
                  <a:tcPr marL="76200" marR="76200" marT="76200" marB="76200" anchor="ctr">
                    <a:lnL w="9525" cap="flat" cmpd="sng" algn="ctr">
                      <a:solidFill>
                        <a:srgbClr val="D9D9D9"/>
                      </a:solidFill>
                      <a:prstDash val="solid"/>
                      <a:round/>
                      <a:headEnd type="none" w="med" len="med"/>
                      <a:tailEnd type="none" w="med" len="med"/>
                    </a:lnL>
                    <a:lnR w="12668" cap="flat" cmpd="sng" algn="ctr">
                      <a:solidFill>
                        <a:srgbClr val="000000"/>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628650">
                <a:tc>
                  <a:txBody>
                    <a:bodyPr/>
                    <a:lstStyle/>
                    <a:p>
                      <a:pPr algn="ctr">
                        <a:lnSpc>
                          <a:spcPts val="2100"/>
                        </a:lnSpc>
                        <a:defRPr/>
                      </a:pPr>
                      <a:r>
                        <a:rPr lang="en-US" sz="1500">
                          <a:solidFill>
                            <a:srgbClr val="000000"/>
                          </a:solidFill>
                          <a:latin typeface="Open Sans"/>
                          <a:ea typeface="Open Sans"/>
                          <a:cs typeface="Open Sans"/>
                          <a:sym typeface="Open Sans"/>
                        </a:rPr>
                        <a:t>4</a:t>
                      </a:r>
                      <a:endParaRPr lang="en-US" sz="1100"/>
                    </a:p>
                  </a:txBody>
                  <a:tcPr marL="76200" marR="76200" marT="76200" marB="76200" anchor="ctr">
                    <a:lnL w="12668" cap="flat" cmpd="sng" algn="ctr">
                      <a:solidFill>
                        <a:srgbClr val="000000"/>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Open Sans"/>
                          <a:ea typeface="Open Sans"/>
                          <a:cs typeface="Open Sans"/>
                          <a:sym typeface="Open Sans"/>
                        </a:rPr>
                        <a:t>MEGA SUPERFICIES</a:t>
                      </a:r>
                      <a:endParaRPr lang="en-US" sz="1100"/>
                    </a:p>
                  </a:txBody>
                  <a:tcPr marL="76200" marR="76200" marT="76200" marB="76200" anchor="ctr">
                    <a:lnL w="9525" cap="flat" cmpd="sng" algn="ctr">
                      <a:solidFill>
                        <a:srgbClr val="D9D9D9"/>
                      </a:solidFill>
                      <a:prstDash val="solid"/>
                      <a:round/>
                      <a:headEnd type="none" w="med" len="med"/>
                      <a:tailEnd type="none" w="med" len="med"/>
                    </a:lnL>
                    <a:lnR w="12668" cap="flat" cmpd="sng" algn="ctr">
                      <a:solidFill>
                        <a:srgbClr val="000000"/>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628650">
                <a:tc>
                  <a:txBody>
                    <a:bodyPr/>
                    <a:lstStyle/>
                    <a:p>
                      <a:pPr algn="ctr">
                        <a:lnSpc>
                          <a:spcPts val="2100"/>
                        </a:lnSpc>
                        <a:defRPr/>
                      </a:pPr>
                      <a:r>
                        <a:rPr lang="en-US" sz="1500">
                          <a:solidFill>
                            <a:srgbClr val="000000"/>
                          </a:solidFill>
                          <a:latin typeface="Open Sans"/>
                          <a:ea typeface="Open Sans"/>
                          <a:cs typeface="Open Sans"/>
                          <a:sym typeface="Open Sans"/>
                        </a:rPr>
                        <a:t>5</a:t>
                      </a:r>
                      <a:endParaRPr lang="en-US" sz="1100"/>
                    </a:p>
                  </a:txBody>
                  <a:tcPr marL="76200" marR="76200" marT="76200" marB="76200" anchor="ctr">
                    <a:lnL w="12668" cap="flat" cmpd="sng" algn="ctr">
                      <a:solidFill>
                        <a:srgbClr val="000000"/>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12668" cap="flat" cmpd="sng" algn="ctr">
                      <a:solidFill>
                        <a:srgbClr val="000000"/>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Open Sans"/>
                          <a:ea typeface="Open Sans"/>
                          <a:cs typeface="Open Sans"/>
                          <a:sym typeface="Open Sans"/>
                        </a:rPr>
                        <a:t>LAVATORY CARE &amp; BRC</a:t>
                      </a:r>
                      <a:endParaRPr lang="en-US" sz="1100"/>
                    </a:p>
                  </a:txBody>
                  <a:tcPr marL="76200" marR="76200" marT="76200" marB="76200" anchor="ctr">
                    <a:lnL w="9525" cap="flat" cmpd="sng" algn="ctr">
                      <a:solidFill>
                        <a:srgbClr val="D9D9D9"/>
                      </a:solidFill>
                      <a:prstDash val="solid"/>
                      <a:round/>
                      <a:headEnd type="none" w="med" len="med"/>
                      <a:tailEnd type="none" w="med" len="med"/>
                    </a:lnL>
                    <a:lnR w="12668" cap="flat" cmpd="sng" algn="ctr">
                      <a:solidFill>
                        <a:srgbClr val="000000"/>
                      </a:solidFill>
                      <a:prstDash val="solid"/>
                      <a:round/>
                      <a:headEnd type="none" w="med" len="med"/>
                      <a:tailEnd type="none" w="med" len="med"/>
                    </a:lnR>
                    <a:lnT w="9525" cap="flat" cmpd="sng" algn="ctr">
                      <a:solidFill>
                        <a:srgbClr val="D9D9D9"/>
                      </a:solidFill>
                      <a:prstDash val="solid"/>
                      <a:round/>
                      <a:headEnd type="none" w="med" len="med"/>
                      <a:tailEnd type="none" w="med" len="med"/>
                    </a:lnT>
                    <a:lnB w="12668"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Freeform 5"/>
          <p:cNvSpPr/>
          <p:nvPr/>
        </p:nvSpPr>
        <p:spPr>
          <a:xfrm>
            <a:off x="6630122" y="3201867"/>
            <a:ext cx="10719350" cy="6056433"/>
          </a:xfrm>
          <a:custGeom>
            <a:avLst/>
            <a:gdLst/>
            <a:ahLst/>
            <a:cxnLst/>
            <a:rect l="l" t="t" r="r" b="b"/>
            <a:pathLst>
              <a:path w="10719350" h="6056433">
                <a:moveTo>
                  <a:pt x="0" y="0"/>
                </a:moveTo>
                <a:lnTo>
                  <a:pt x="10719350" y="0"/>
                </a:lnTo>
                <a:lnTo>
                  <a:pt x="10719350" y="6056433"/>
                </a:lnTo>
                <a:lnTo>
                  <a:pt x="0" y="6056433"/>
                </a:lnTo>
                <a:lnTo>
                  <a:pt x="0" y="0"/>
                </a:lnTo>
                <a:close/>
              </a:path>
            </a:pathLst>
          </a:custGeom>
          <a:blipFill>
            <a:blip r:embed="rId3"/>
            <a:stretch>
              <a:fillRect/>
            </a:stretch>
          </a:blipFill>
        </p:spPr>
        <p:txBody>
          <a:bodyPr/>
          <a:lstStyle/>
          <a:p>
            <a:endParaRPr lang="en-US"/>
          </a:p>
        </p:txBody>
      </p:sp>
      <p:sp>
        <p:nvSpPr>
          <p:cNvPr id="6" name="TextBox 6"/>
          <p:cNvSpPr txBox="1"/>
          <p:nvPr/>
        </p:nvSpPr>
        <p:spPr>
          <a:xfrm>
            <a:off x="1028700" y="2839736"/>
            <a:ext cx="4579041" cy="3363571"/>
          </a:xfrm>
          <a:prstGeom prst="rect">
            <a:avLst/>
          </a:prstGeom>
        </p:spPr>
        <p:txBody>
          <a:bodyPr lIns="0" tIns="0" rIns="0" bIns="0" rtlCol="0" anchor="t">
            <a:spAutoFit/>
          </a:bodyPr>
          <a:lstStyle/>
          <a:p>
            <a:pPr algn="l">
              <a:lnSpc>
                <a:spcPts val="3756"/>
              </a:lnSpc>
            </a:pPr>
            <a:r>
              <a:rPr lang="en-US" sz="2682">
                <a:solidFill>
                  <a:srgbClr val="091713"/>
                </a:solidFill>
                <a:latin typeface="Agrandir"/>
                <a:ea typeface="Agrandir"/>
                <a:cs typeface="Agrandir"/>
                <a:sym typeface="Agrandir"/>
              </a:rPr>
              <a:t>Contenido:</a:t>
            </a:r>
          </a:p>
          <a:p>
            <a:pPr marL="579236" lvl="1" indent="-289618" algn="l">
              <a:lnSpc>
                <a:spcPts val="3756"/>
              </a:lnSpc>
              <a:buFont typeface="Arial"/>
              <a:buChar char="•"/>
            </a:pPr>
            <a:r>
              <a:rPr lang="en-US" sz="2682">
                <a:solidFill>
                  <a:srgbClr val="091713"/>
                </a:solidFill>
                <a:latin typeface="Agrandir"/>
                <a:ea typeface="Agrandir"/>
                <a:cs typeface="Agrandir"/>
                <a:sym typeface="Agrandir"/>
              </a:rPr>
              <a:t>Uso de tablas dinámicas</a:t>
            </a:r>
          </a:p>
          <a:p>
            <a:pPr marL="579236" lvl="1" indent="-289618" algn="l">
              <a:lnSpc>
                <a:spcPts val="3756"/>
              </a:lnSpc>
              <a:buFont typeface="Arial"/>
              <a:buChar char="•"/>
            </a:pPr>
            <a:r>
              <a:rPr lang="en-US" sz="2682">
                <a:solidFill>
                  <a:srgbClr val="091713"/>
                </a:solidFill>
                <a:latin typeface="Agrandir"/>
                <a:ea typeface="Agrandir"/>
                <a:cs typeface="Agrandir"/>
                <a:sym typeface="Agrandir"/>
              </a:rPr>
              <a:t>Análisis por categoría, región y tiempo</a:t>
            </a:r>
          </a:p>
          <a:p>
            <a:pPr marL="579236" lvl="1" indent="-289618" algn="l">
              <a:lnSpc>
                <a:spcPts val="3756"/>
              </a:lnSpc>
              <a:buFont typeface="Arial"/>
              <a:buChar char="•"/>
            </a:pPr>
            <a:r>
              <a:rPr lang="en-US" sz="2682">
                <a:solidFill>
                  <a:srgbClr val="091713"/>
                </a:solidFill>
                <a:latin typeface="Agrandir"/>
                <a:ea typeface="Agrandir"/>
                <a:cs typeface="Agrandir"/>
                <a:sym typeface="Agrandir"/>
              </a:rPr>
              <a:t>Identificación de tendencias y outliers</a:t>
            </a:r>
          </a:p>
          <a:p>
            <a:pPr algn="l">
              <a:lnSpc>
                <a:spcPts val="3756"/>
              </a:lnSpc>
              <a:spcBef>
                <a:spcPct val="0"/>
              </a:spcBef>
            </a:pPr>
            <a:endParaRPr lang="en-US" sz="2682">
              <a:solidFill>
                <a:srgbClr val="091713"/>
              </a:solidFill>
              <a:latin typeface="Agrandir"/>
              <a:ea typeface="Agrandir"/>
              <a:cs typeface="Agrandir"/>
              <a:sym typeface="Agrandir"/>
            </a:endParaRPr>
          </a:p>
        </p:txBody>
      </p:sp>
      <p:sp>
        <p:nvSpPr>
          <p:cNvPr id="7" name="TextBox 7"/>
          <p:cNvSpPr txBox="1"/>
          <p:nvPr/>
        </p:nvSpPr>
        <p:spPr>
          <a:xfrm>
            <a:off x="982159" y="1420511"/>
            <a:ext cx="16367314" cy="1429385"/>
          </a:xfrm>
          <a:prstGeom prst="rect">
            <a:avLst/>
          </a:prstGeom>
        </p:spPr>
        <p:txBody>
          <a:bodyPr lIns="0" tIns="0" rIns="0" bIns="0" rtlCol="0" anchor="t">
            <a:spAutoFit/>
          </a:bodyPr>
          <a:lstStyle/>
          <a:p>
            <a:pPr algn="just">
              <a:lnSpc>
                <a:spcPts val="3639"/>
              </a:lnSpc>
            </a:pPr>
            <a:r>
              <a:rPr lang="en-US" sz="2599">
                <a:solidFill>
                  <a:srgbClr val="091713"/>
                </a:solidFill>
                <a:latin typeface="Agrandir"/>
                <a:ea typeface="Agrandir"/>
                <a:cs typeface="Agrandir"/>
                <a:sym typeface="Agrandir"/>
              </a:rPr>
              <a:t>En esta etapa se identificaron las principales categorías, así como diferencias iniciales en el volumen de ventas entre ellas.</a:t>
            </a:r>
          </a:p>
          <a:p>
            <a:pPr algn="just">
              <a:lnSpc>
                <a:spcPts val="3639"/>
              </a:lnSpc>
              <a:spcBef>
                <a:spcPct val="0"/>
              </a:spcBef>
            </a:pPr>
            <a:r>
              <a:rPr lang="en-US" sz="2599">
                <a:solidFill>
                  <a:srgbClr val="091713"/>
                </a:solidFill>
                <a:latin typeface="Agrandir"/>
                <a:ea typeface="Agrandir"/>
                <a:cs typeface="Agrandir"/>
                <a:sym typeface="Agrandir"/>
              </a:rPr>
              <a:t>Excel permitió obtener un primer entendimiento del comportamiento de las ventas.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aphicFrame>
        <p:nvGraphicFramePr>
          <p:cNvPr id="3" name="Table 3"/>
          <p:cNvGraphicFramePr>
            <a:graphicFrameLocks noGrp="1"/>
          </p:cNvGraphicFramePr>
          <p:nvPr/>
        </p:nvGraphicFramePr>
        <p:xfrm>
          <a:off x="1027821" y="372063"/>
          <a:ext cx="7543800" cy="5657850"/>
        </p:xfrm>
        <a:graphic>
          <a:graphicData uri="http://schemas.openxmlformats.org/drawingml/2006/table">
            <a:tbl>
              <a:tblPr/>
              <a:tblGrid>
                <a:gridCol w="188595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885950">
                  <a:extLst>
                    <a:ext uri="{9D8B030D-6E8A-4147-A177-3AD203B41FA5}">
                      <a16:colId xmlns:a16="http://schemas.microsoft.com/office/drawing/2014/main" val="20002"/>
                    </a:ext>
                  </a:extLst>
                </a:gridCol>
                <a:gridCol w="1885950">
                  <a:extLst>
                    <a:ext uri="{9D8B030D-6E8A-4147-A177-3AD203B41FA5}">
                      <a16:colId xmlns:a16="http://schemas.microsoft.com/office/drawing/2014/main" val="20003"/>
                    </a:ext>
                  </a:extLst>
                </a:gridCol>
              </a:tblGrid>
              <a:tr h="628650">
                <a:tc>
                  <a:txBody>
                    <a:bodyPr/>
                    <a:lstStyle/>
                    <a:p>
                      <a:pPr algn="l">
                        <a:lnSpc>
                          <a:spcPts val="2310"/>
                        </a:lnSpc>
                        <a:defRPr/>
                      </a:pPr>
                      <a:r>
                        <a:rPr lang="en-US" sz="1650" b="1">
                          <a:solidFill>
                            <a:srgbClr val="000000"/>
                          </a:solidFill>
                          <a:latin typeface="Open Sans Bold"/>
                          <a:ea typeface="Open Sans Bold"/>
                          <a:cs typeface="Open Sans Bold"/>
                          <a:sym typeface="Open Sans Bold"/>
                        </a:rPr>
                        <a:t>Row Labels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l">
                        <a:lnSpc>
                          <a:spcPts val="2310"/>
                        </a:lnSpc>
                        <a:defRPr/>
                      </a:pPr>
                      <a:r>
                        <a:rPr lang="en-US" sz="1650" b="1">
                          <a:solidFill>
                            <a:srgbClr val="000000"/>
                          </a:solidFill>
                          <a:latin typeface="Open Sans Bold"/>
                          <a:ea typeface="Open Sans Bold"/>
                          <a:cs typeface="Open Sans Bold"/>
                          <a:sym typeface="Open Sans Bold"/>
                        </a:rPr>
                        <a:t>Count of ATTR1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l">
                        <a:lnSpc>
                          <a:spcPts val="2310"/>
                        </a:lnSpc>
                        <a:defRPr/>
                      </a:pPr>
                      <a:r>
                        <a:rPr lang="en-US" sz="1650" b="1">
                          <a:solidFill>
                            <a:srgbClr val="000000"/>
                          </a:solidFill>
                          <a:latin typeface="Open Sans Bold"/>
                          <a:ea typeface="Open Sans Bold"/>
                          <a:cs typeface="Open Sans Bold"/>
                          <a:sym typeface="Open Sans Bold"/>
                        </a:rPr>
                        <a:t>Count of ATTR2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l">
                        <a:lnSpc>
                          <a:spcPts val="2310"/>
                        </a:lnSpc>
                        <a:defRPr/>
                      </a:pPr>
                      <a:r>
                        <a:rPr lang="en-US" sz="1650" b="1">
                          <a:solidFill>
                            <a:srgbClr val="000000"/>
                          </a:solidFill>
                          <a:latin typeface="Open Sans Bold"/>
                          <a:ea typeface="Open Sans Bold"/>
                          <a:cs typeface="Open Sans Bold"/>
                          <a:sym typeface="Open Sans Bold"/>
                        </a:rPr>
                        <a:t>Count of ATTR3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extLst>
                  <a:ext uri="{0D108BD9-81ED-4DB2-BD59-A6C34878D82A}">
                    <a16:rowId xmlns:a16="http://schemas.microsoft.com/office/drawing/2014/main" val="10000"/>
                  </a:ext>
                </a:extLst>
              </a:tr>
              <a:tr h="628650">
                <a:tc>
                  <a:txBody>
                    <a:bodyPr/>
                    <a:lstStyle/>
                    <a:p>
                      <a:pPr algn="l">
                        <a:lnSpc>
                          <a:spcPts val="2100"/>
                        </a:lnSpc>
                        <a:defRPr/>
                      </a:pPr>
                      <a:r>
                        <a:rPr lang="en-US" sz="1500">
                          <a:solidFill>
                            <a:srgbClr val="000000"/>
                          </a:solidFill>
                          <a:latin typeface="Open Sans"/>
                          <a:ea typeface="Open Sans"/>
                          <a:cs typeface="Open Sans"/>
                          <a:sym typeface="Open Sans"/>
                        </a:rPr>
                        <a:t>BAR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28650">
                <a:tc>
                  <a:txBody>
                    <a:bodyPr/>
                    <a:lstStyle/>
                    <a:p>
                      <a:pPr algn="l">
                        <a:lnSpc>
                          <a:spcPts val="2100"/>
                        </a:lnSpc>
                        <a:defRPr/>
                      </a:pPr>
                      <a:r>
                        <a:rPr lang="en-US" sz="1500">
                          <a:solidFill>
                            <a:srgbClr val="000000"/>
                          </a:solidFill>
                          <a:latin typeface="Open Sans"/>
                          <a:ea typeface="Open Sans"/>
                          <a:cs typeface="Open Sans"/>
                          <a:sym typeface="Open Sans"/>
                        </a:rPr>
                        <a:t>BLEACH</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28650">
                <a:tc>
                  <a:txBody>
                    <a:bodyPr/>
                    <a:lstStyle/>
                    <a:p>
                      <a:pPr algn="l">
                        <a:lnSpc>
                          <a:spcPts val="2100"/>
                        </a:lnSpc>
                        <a:defRPr/>
                      </a:pPr>
                      <a:r>
                        <a:rPr lang="en-US" sz="1500">
                          <a:solidFill>
                            <a:srgbClr val="000000"/>
                          </a:solidFill>
                          <a:latin typeface="Open Sans"/>
                          <a:ea typeface="Open Sans"/>
                          <a:cs typeface="Open Sans"/>
                          <a:sym typeface="Open Sans"/>
                        </a:rPr>
                        <a:t>LIQUID &amp; GEL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16</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16</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16</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628650">
                <a:tc>
                  <a:txBody>
                    <a:bodyPr/>
                    <a:lstStyle/>
                    <a:p>
                      <a:pPr algn="l">
                        <a:lnSpc>
                          <a:spcPts val="2100"/>
                        </a:lnSpc>
                        <a:defRPr/>
                      </a:pPr>
                      <a:r>
                        <a:rPr lang="en-US" sz="1500">
                          <a:solidFill>
                            <a:srgbClr val="000000"/>
                          </a:solidFill>
                          <a:latin typeface="Open Sans"/>
                          <a:ea typeface="Open Sans"/>
                          <a:cs typeface="Open Sans"/>
                          <a:sym typeface="Open Sans"/>
                        </a:rPr>
                        <a:t>OTHERS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628650">
                <a:tc>
                  <a:txBody>
                    <a:bodyPr/>
                    <a:lstStyle/>
                    <a:p>
                      <a:pPr algn="l">
                        <a:lnSpc>
                          <a:spcPts val="2100"/>
                        </a:lnSpc>
                        <a:defRPr/>
                      </a:pPr>
                      <a:r>
                        <a:rPr lang="en-US" sz="1500">
                          <a:solidFill>
                            <a:srgbClr val="000000"/>
                          </a:solidFill>
                          <a:latin typeface="Open Sans"/>
                          <a:ea typeface="Open Sans"/>
                          <a:cs typeface="Open Sans"/>
                          <a:sym typeface="Open Sans"/>
                        </a:rPr>
                        <a:t>POWDER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10</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10</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10</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628650">
                <a:tc>
                  <a:txBody>
                    <a:bodyPr/>
                    <a:lstStyle/>
                    <a:p>
                      <a:pPr algn="l">
                        <a:lnSpc>
                          <a:spcPts val="2100"/>
                        </a:lnSpc>
                        <a:defRPr/>
                      </a:pPr>
                      <a:r>
                        <a:rPr lang="en-US" sz="1500">
                          <a:solidFill>
                            <a:srgbClr val="000000"/>
                          </a:solidFill>
                          <a:latin typeface="Open Sans"/>
                          <a:ea typeface="Open Sans"/>
                          <a:cs typeface="Open Sans"/>
                          <a:sym typeface="Open Sans"/>
                        </a:rPr>
                        <a:t>PRETREAT</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7</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7</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7</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628650">
                <a:tc>
                  <a:txBody>
                    <a:bodyPr/>
                    <a:lstStyle/>
                    <a:p>
                      <a:pPr algn="l">
                        <a:lnSpc>
                          <a:spcPts val="2100"/>
                        </a:lnSpc>
                        <a:defRPr/>
                      </a:pPr>
                      <a:r>
                        <a:rPr lang="en-US" sz="1500">
                          <a:solidFill>
                            <a:srgbClr val="000000"/>
                          </a:solidFill>
                          <a:latin typeface="Open Sans"/>
                          <a:ea typeface="Open Sans"/>
                          <a:cs typeface="Open Sans"/>
                          <a:sym typeface="Open Sans"/>
                        </a:rPr>
                        <a:t>SANITIZER</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r h="628650">
                <a:tc>
                  <a:txBody>
                    <a:bodyPr/>
                    <a:lstStyle/>
                    <a:p>
                      <a:pPr algn="l">
                        <a:lnSpc>
                          <a:spcPts val="2310"/>
                        </a:lnSpc>
                        <a:defRPr/>
                      </a:pPr>
                      <a:r>
                        <a:rPr lang="en-US" sz="1650" b="1">
                          <a:solidFill>
                            <a:srgbClr val="000000"/>
                          </a:solidFill>
                          <a:latin typeface="Open Sans Bold"/>
                          <a:ea typeface="Open Sans Bold"/>
                          <a:cs typeface="Open Sans Bold"/>
                          <a:sym typeface="Open Sans Bold"/>
                        </a:rPr>
                        <a:t>Grand Total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r">
                        <a:lnSpc>
                          <a:spcPts val="2310"/>
                        </a:lnSpc>
                        <a:defRPr/>
                      </a:pPr>
                      <a:r>
                        <a:rPr lang="en-US" sz="1650" b="1">
                          <a:solidFill>
                            <a:srgbClr val="000000"/>
                          </a:solidFill>
                          <a:latin typeface="Open Sans Bold"/>
                          <a:ea typeface="Open Sans Bold"/>
                          <a:cs typeface="Open Sans Bold"/>
                          <a:sym typeface="Open Sans Bold"/>
                        </a:rPr>
                        <a:t>53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r">
                        <a:lnSpc>
                          <a:spcPts val="2310"/>
                        </a:lnSpc>
                        <a:defRPr/>
                      </a:pPr>
                      <a:r>
                        <a:rPr lang="en-US" sz="1650" b="1">
                          <a:solidFill>
                            <a:srgbClr val="000000"/>
                          </a:solidFill>
                          <a:latin typeface="Open Sans Bold"/>
                          <a:ea typeface="Open Sans Bold"/>
                          <a:cs typeface="Open Sans Bold"/>
                          <a:sym typeface="Open Sans Bold"/>
                        </a:rPr>
                        <a:t>53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r">
                        <a:lnSpc>
                          <a:spcPts val="2310"/>
                        </a:lnSpc>
                        <a:defRPr/>
                      </a:pPr>
                      <a:r>
                        <a:rPr lang="en-US" sz="1650" b="1">
                          <a:solidFill>
                            <a:srgbClr val="000000"/>
                          </a:solidFill>
                          <a:latin typeface="Open Sans Bold"/>
                          <a:ea typeface="Open Sans Bold"/>
                          <a:cs typeface="Open Sans Bold"/>
                          <a:sym typeface="Open Sans Bold"/>
                        </a:rPr>
                        <a:t>52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extLst>
                  <a:ext uri="{0D108BD9-81ED-4DB2-BD59-A6C34878D82A}">
                    <a16:rowId xmlns:a16="http://schemas.microsoft.com/office/drawing/2014/main" val="10008"/>
                  </a:ext>
                </a:extLst>
              </a:tr>
            </a:tbl>
          </a:graphicData>
        </a:graphic>
      </p:graphicFrame>
      <p:sp>
        <p:nvSpPr>
          <p:cNvPr id="4" name="Freeform 4"/>
          <p:cNvSpPr/>
          <p:nvPr/>
        </p:nvSpPr>
        <p:spPr>
          <a:xfrm>
            <a:off x="8904996" y="4649236"/>
            <a:ext cx="9379643" cy="5637764"/>
          </a:xfrm>
          <a:custGeom>
            <a:avLst/>
            <a:gdLst/>
            <a:ahLst/>
            <a:cxnLst/>
            <a:rect l="l" t="t" r="r" b="b"/>
            <a:pathLst>
              <a:path w="9379643" h="5637764">
                <a:moveTo>
                  <a:pt x="0" y="0"/>
                </a:moveTo>
                <a:lnTo>
                  <a:pt x="9379642" y="0"/>
                </a:lnTo>
                <a:lnTo>
                  <a:pt x="9379642" y="5637764"/>
                </a:lnTo>
                <a:lnTo>
                  <a:pt x="0" y="5637764"/>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028700" y="6193645"/>
            <a:ext cx="6353883" cy="3563878"/>
          </a:xfrm>
          <a:prstGeom prst="rect">
            <a:avLst/>
          </a:prstGeom>
        </p:spPr>
        <p:txBody>
          <a:bodyPr lIns="0" tIns="0" rIns="0" bIns="0" rtlCol="0" anchor="t">
            <a:spAutoFit/>
          </a:bodyPr>
          <a:lstStyle/>
          <a:p>
            <a:pPr algn="just">
              <a:lnSpc>
                <a:spcPts val="4640"/>
              </a:lnSpc>
              <a:spcBef>
                <a:spcPct val="0"/>
              </a:spcBef>
            </a:pPr>
            <a:r>
              <a:rPr lang="en-US" sz="3314">
                <a:solidFill>
                  <a:srgbClr val="000000"/>
                </a:solidFill>
                <a:latin typeface="Agrandir"/>
                <a:ea typeface="Agrandir"/>
                <a:cs typeface="Agrandir"/>
                <a:sym typeface="Agrandir"/>
              </a:rPr>
              <a:t>Se observa que algunas categorías concentran mayor número de productos y volumen de ventas, lo que sugiere una mayor relevancia dentro del negocio.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9820212" y="4789687"/>
            <a:ext cx="8190090" cy="4922767"/>
          </a:xfrm>
          <a:custGeom>
            <a:avLst/>
            <a:gdLst/>
            <a:ahLst/>
            <a:cxnLst/>
            <a:rect l="l" t="t" r="r" b="b"/>
            <a:pathLst>
              <a:path w="8190090" h="4922767">
                <a:moveTo>
                  <a:pt x="0" y="0"/>
                </a:moveTo>
                <a:lnTo>
                  <a:pt x="8190090" y="0"/>
                </a:lnTo>
                <a:lnTo>
                  <a:pt x="8190090" y="4922767"/>
                </a:lnTo>
                <a:lnTo>
                  <a:pt x="0" y="4922767"/>
                </a:lnTo>
                <a:lnTo>
                  <a:pt x="0" y="0"/>
                </a:lnTo>
                <a:close/>
              </a:path>
            </a:pathLst>
          </a:custGeom>
          <a:blipFill>
            <a:blip r:embed="rId3"/>
            <a:stretch>
              <a:fillRect/>
            </a:stretch>
          </a:blipFill>
        </p:spPr>
        <p:txBody>
          <a:bodyPr/>
          <a:lstStyle/>
          <a:p>
            <a:endParaRPr lang="en-US"/>
          </a:p>
        </p:txBody>
      </p:sp>
      <p:graphicFrame>
        <p:nvGraphicFramePr>
          <p:cNvPr id="4" name="Table 4"/>
          <p:cNvGraphicFramePr>
            <a:graphicFrameLocks noGrp="1"/>
          </p:cNvGraphicFramePr>
          <p:nvPr/>
        </p:nvGraphicFramePr>
        <p:xfrm>
          <a:off x="1028700" y="173289"/>
          <a:ext cx="8478226" cy="5362573"/>
        </p:xfrm>
        <a:graphic>
          <a:graphicData uri="http://schemas.openxmlformats.org/drawingml/2006/table">
            <a:tbl>
              <a:tblPr/>
              <a:tblGrid>
                <a:gridCol w="2396561">
                  <a:extLst>
                    <a:ext uri="{9D8B030D-6E8A-4147-A177-3AD203B41FA5}">
                      <a16:colId xmlns:a16="http://schemas.microsoft.com/office/drawing/2014/main" val="20000"/>
                    </a:ext>
                  </a:extLst>
                </a:gridCol>
                <a:gridCol w="1982202">
                  <a:extLst>
                    <a:ext uri="{9D8B030D-6E8A-4147-A177-3AD203B41FA5}">
                      <a16:colId xmlns:a16="http://schemas.microsoft.com/office/drawing/2014/main" val="20001"/>
                    </a:ext>
                  </a:extLst>
                </a:gridCol>
                <a:gridCol w="2105390">
                  <a:extLst>
                    <a:ext uri="{9D8B030D-6E8A-4147-A177-3AD203B41FA5}">
                      <a16:colId xmlns:a16="http://schemas.microsoft.com/office/drawing/2014/main" val="20002"/>
                    </a:ext>
                  </a:extLst>
                </a:gridCol>
                <a:gridCol w="1994073">
                  <a:extLst>
                    <a:ext uri="{9D8B030D-6E8A-4147-A177-3AD203B41FA5}">
                      <a16:colId xmlns:a16="http://schemas.microsoft.com/office/drawing/2014/main" val="20003"/>
                    </a:ext>
                  </a:extLst>
                </a:gridCol>
              </a:tblGrid>
              <a:tr h="1078240">
                <a:tc>
                  <a:txBody>
                    <a:bodyPr/>
                    <a:lstStyle/>
                    <a:p>
                      <a:pPr algn="l">
                        <a:lnSpc>
                          <a:spcPts val="2310"/>
                        </a:lnSpc>
                        <a:defRPr/>
                      </a:pPr>
                      <a:r>
                        <a:rPr lang="en-US" sz="1650" b="1">
                          <a:solidFill>
                            <a:srgbClr val="000000"/>
                          </a:solidFill>
                          <a:latin typeface="Open Sans Bold"/>
                          <a:ea typeface="Open Sans Bold"/>
                          <a:cs typeface="Open Sans Bold"/>
                          <a:sym typeface="Open Sans Bold"/>
                        </a:rPr>
                        <a:t>Row Labels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l">
                        <a:lnSpc>
                          <a:spcPts val="2310"/>
                        </a:lnSpc>
                        <a:defRPr/>
                      </a:pPr>
                      <a:r>
                        <a:rPr lang="en-US" sz="1650" b="1">
                          <a:solidFill>
                            <a:srgbClr val="000000"/>
                          </a:solidFill>
                          <a:latin typeface="Open Sans Bold"/>
                          <a:ea typeface="Open Sans Bold"/>
                          <a:cs typeface="Open Sans Bold"/>
                          <a:sym typeface="Open Sans Bold"/>
                        </a:rPr>
                        <a:t>Sum of TOTAL_UNIT_SALES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l">
                        <a:lnSpc>
                          <a:spcPts val="2310"/>
                        </a:lnSpc>
                        <a:defRPr/>
                      </a:pPr>
                      <a:r>
                        <a:rPr lang="en-US" sz="1650" b="1">
                          <a:solidFill>
                            <a:srgbClr val="000000"/>
                          </a:solidFill>
                          <a:latin typeface="Open Sans Bold"/>
                          <a:ea typeface="Open Sans Bold"/>
                          <a:cs typeface="Open Sans Bold"/>
                          <a:sym typeface="Open Sans Bold"/>
                        </a:rPr>
                        <a:t>Sum of TOTAL_VALUE_SALES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l">
                        <a:lnSpc>
                          <a:spcPts val="2310"/>
                        </a:lnSpc>
                        <a:defRPr/>
                      </a:pPr>
                      <a:r>
                        <a:rPr lang="en-US" sz="1650" b="1">
                          <a:solidFill>
                            <a:srgbClr val="000000"/>
                          </a:solidFill>
                          <a:latin typeface="Open Sans Bold"/>
                          <a:ea typeface="Open Sans Bold"/>
                          <a:cs typeface="Open Sans Bold"/>
                          <a:sym typeface="Open Sans Bold"/>
                        </a:rPr>
                        <a:t>Sum of TOTAL_UNIT_AVG_WEEKLY_SALES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extLst>
                  <a:ext uri="{0D108BD9-81ED-4DB2-BD59-A6C34878D82A}">
                    <a16:rowId xmlns:a16="http://schemas.microsoft.com/office/drawing/2014/main" val="10000"/>
                  </a:ext>
                </a:extLst>
              </a:tr>
              <a:tr h="505723">
                <a:tc>
                  <a:txBody>
                    <a:bodyPr/>
                    <a:lstStyle/>
                    <a:p>
                      <a:pPr algn="l">
                        <a:lnSpc>
                          <a:spcPts val="2100"/>
                        </a:lnSpc>
                        <a:defRPr/>
                      </a:pPr>
                      <a:r>
                        <a:rPr lang="en-US" sz="1500">
                          <a:solidFill>
                            <a:srgbClr val="000000"/>
                          </a:solidFill>
                          <a:latin typeface="Open Sans"/>
                          <a:ea typeface="Open Sans"/>
                          <a:cs typeface="Open Sans"/>
                          <a:sym typeface="Open Sans"/>
                        </a:rPr>
                        <a:t>TOTAL AUTOS AREA 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25791.933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714249.979</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128718.312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05723">
                <a:tc>
                  <a:txBody>
                    <a:bodyPr/>
                    <a:lstStyle/>
                    <a:p>
                      <a:pPr algn="l">
                        <a:lnSpc>
                          <a:spcPts val="2100"/>
                        </a:lnSpc>
                        <a:defRPr/>
                      </a:pPr>
                      <a:r>
                        <a:rPr lang="en-US" sz="1500">
                          <a:solidFill>
                            <a:srgbClr val="000000"/>
                          </a:solidFill>
                          <a:latin typeface="Open Sans"/>
                          <a:ea typeface="Open Sans"/>
                          <a:cs typeface="Open Sans"/>
                          <a:sym typeface="Open Sans"/>
                        </a:rPr>
                        <a:t>TOTAL AUTOS AREA 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45319.916</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1188796.15</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180553.221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05723">
                <a:tc>
                  <a:txBody>
                    <a:bodyPr/>
                    <a:lstStyle/>
                    <a:p>
                      <a:pPr algn="l">
                        <a:lnSpc>
                          <a:spcPts val="2100"/>
                        </a:lnSpc>
                        <a:defRPr/>
                      </a:pPr>
                      <a:r>
                        <a:rPr lang="en-US" sz="1500">
                          <a:solidFill>
                            <a:srgbClr val="000000"/>
                          </a:solidFill>
                          <a:latin typeface="Open Sans"/>
                          <a:ea typeface="Open Sans"/>
                          <a:cs typeface="Open Sans"/>
                          <a:sym typeface="Open Sans"/>
                        </a:rPr>
                        <a:t>TOTAL AUTOS AREA 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25896.054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803655.337</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181328.12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505723">
                <a:tc>
                  <a:txBody>
                    <a:bodyPr/>
                    <a:lstStyle/>
                    <a:p>
                      <a:pPr algn="l">
                        <a:lnSpc>
                          <a:spcPts val="2100"/>
                        </a:lnSpc>
                        <a:defRPr/>
                      </a:pPr>
                      <a:r>
                        <a:rPr lang="en-US" sz="1500">
                          <a:solidFill>
                            <a:srgbClr val="000000"/>
                          </a:solidFill>
                          <a:latin typeface="Open Sans"/>
                          <a:ea typeface="Open Sans"/>
                          <a:cs typeface="Open Sans"/>
                          <a:sym typeface="Open Sans"/>
                        </a:rPr>
                        <a:t>TOTAL AUTOS AREA 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24020.149</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677435.998</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154650.329</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505723">
                <a:tc>
                  <a:txBody>
                    <a:bodyPr/>
                    <a:lstStyle/>
                    <a:p>
                      <a:pPr algn="l">
                        <a:lnSpc>
                          <a:spcPts val="2100"/>
                        </a:lnSpc>
                        <a:defRPr/>
                      </a:pPr>
                      <a:r>
                        <a:rPr lang="en-US" sz="1500">
                          <a:solidFill>
                            <a:srgbClr val="000000"/>
                          </a:solidFill>
                          <a:latin typeface="Open Sans"/>
                          <a:ea typeface="Open Sans"/>
                          <a:cs typeface="Open Sans"/>
                          <a:sym typeface="Open Sans"/>
                        </a:rPr>
                        <a:t>TOTAL AUTOS AREA 5</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36266.9</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1153335.538</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175129.123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505723">
                <a:tc>
                  <a:txBody>
                    <a:bodyPr/>
                    <a:lstStyle/>
                    <a:p>
                      <a:pPr algn="l">
                        <a:lnSpc>
                          <a:spcPts val="2100"/>
                        </a:lnSpc>
                        <a:defRPr/>
                      </a:pPr>
                      <a:r>
                        <a:rPr lang="en-US" sz="1500">
                          <a:solidFill>
                            <a:srgbClr val="000000"/>
                          </a:solidFill>
                          <a:latin typeface="Open Sans"/>
                          <a:ea typeface="Open Sans"/>
                          <a:cs typeface="Open Sans"/>
                          <a:sym typeface="Open Sans"/>
                        </a:rPr>
                        <a:t>TOTAL AUTOS AREA 6</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38585.222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983957.571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183537.888</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744272">
                <a:tc>
                  <a:txBody>
                    <a:bodyPr/>
                    <a:lstStyle/>
                    <a:p>
                      <a:pPr algn="l">
                        <a:lnSpc>
                          <a:spcPts val="2100"/>
                        </a:lnSpc>
                        <a:defRPr/>
                      </a:pPr>
                      <a:r>
                        <a:rPr lang="en-US" sz="1500">
                          <a:solidFill>
                            <a:srgbClr val="000000"/>
                          </a:solidFill>
                          <a:latin typeface="Open Sans"/>
                          <a:ea typeface="Open Sans"/>
                          <a:cs typeface="Open Sans"/>
                          <a:sym typeface="Open Sans"/>
                        </a:rPr>
                        <a:t>TOTAL AUTOS SCANNING MEXICO</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195880.054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5521429.32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r">
                        <a:lnSpc>
                          <a:spcPts val="2310"/>
                        </a:lnSpc>
                        <a:defRPr/>
                      </a:pPr>
                      <a:r>
                        <a:rPr lang="en-US" sz="1650">
                          <a:solidFill>
                            <a:srgbClr val="000000"/>
                          </a:solidFill>
                          <a:latin typeface="Open Sans"/>
                          <a:ea typeface="Open Sans"/>
                          <a:cs typeface="Open Sans"/>
                          <a:sym typeface="Open Sans"/>
                        </a:rPr>
                        <a:t>228291.492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r h="505723">
                <a:tc>
                  <a:txBody>
                    <a:bodyPr/>
                    <a:lstStyle/>
                    <a:p>
                      <a:pPr algn="l">
                        <a:lnSpc>
                          <a:spcPts val="2310"/>
                        </a:lnSpc>
                        <a:defRPr/>
                      </a:pPr>
                      <a:r>
                        <a:rPr lang="en-US" sz="1650" b="1">
                          <a:solidFill>
                            <a:srgbClr val="000000"/>
                          </a:solidFill>
                          <a:latin typeface="Open Sans Bold"/>
                          <a:ea typeface="Open Sans Bold"/>
                          <a:cs typeface="Open Sans Bold"/>
                          <a:sym typeface="Open Sans Bold"/>
                        </a:rPr>
                        <a:t>Grand Total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r">
                        <a:lnSpc>
                          <a:spcPts val="2310"/>
                        </a:lnSpc>
                        <a:defRPr/>
                      </a:pPr>
                      <a:r>
                        <a:rPr lang="en-US" sz="1650" b="1">
                          <a:solidFill>
                            <a:srgbClr val="000000"/>
                          </a:solidFill>
                          <a:latin typeface="Open Sans Bold"/>
                          <a:ea typeface="Open Sans Bold"/>
                          <a:cs typeface="Open Sans Bold"/>
                          <a:sym typeface="Open Sans Bold"/>
                        </a:rPr>
                        <a:t>391760.228</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r">
                        <a:lnSpc>
                          <a:spcPts val="2310"/>
                        </a:lnSpc>
                        <a:defRPr/>
                      </a:pPr>
                      <a:r>
                        <a:rPr lang="en-US" sz="1650" b="1">
                          <a:solidFill>
                            <a:srgbClr val="000000"/>
                          </a:solidFill>
                          <a:latin typeface="Open Sans Bold"/>
                          <a:ea typeface="Open Sans Bold"/>
                          <a:cs typeface="Open Sans Bold"/>
                          <a:sym typeface="Open Sans Bold"/>
                        </a:rPr>
                        <a:t>11042859.89</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r">
                        <a:lnSpc>
                          <a:spcPts val="2310"/>
                        </a:lnSpc>
                        <a:defRPr/>
                      </a:pPr>
                      <a:r>
                        <a:rPr lang="en-US" sz="1650" b="1">
                          <a:solidFill>
                            <a:srgbClr val="000000"/>
                          </a:solidFill>
                          <a:latin typeface="Open Sans Bold"/>
                          <a:ea typeface="Open Sans Bold"/>
                          <a:cs typeface="Open Sans Bold"/>
                          <a:sym typeface="Open Sans Bold"/>
                        </a:rPr>
                        <a:t>1232208.485</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extLst>
                  <a:ext uri="{0D108BD9-81ED-4DB2-BD59-A6C34878D82A}">
                    <a16:rowId xmlns:a16="http://schemas.microsoft.com/office/drawing/2014/main" val="10008"/>
                  </a:ext>
                </a:extLst>
              </a:tr>
            </a:tbl>
          </a:graphicData>
        </a:graphic>
      </p:graphicFrame>
      <p:graphicFrame>
        <p:nvGraphicFramePr>
          <p:cNvPr id="5" name="Table 5"/>
          <p:cNvGraphicFramePr>
            <a:graphicFrameLocks noGrp="1"/>
          </p:cNvGraphicFramePr>
          <p:nvPr/>
        </p:nvGraphicFramePr>
        <p:xfrm>
          <a:off x="9840300" y="173289"/>
          <a:ext cx="8149913" cy="6466665"/>
        </p:xfrm>
        <a:graphic>
          <a:graphicData uri="http://schemas.openxmlformats.org/drawingml/2006/table">
            <a:tbl>
              <a:tblPr/>
              <a:tblGrid>
                <a:gridCol w="2050963">
                  <a:extLst>
                    <a:ext uri="{9D8B030D-6E8A-4147-A177-3AD203B41FA5}">
                      <a16:colId xmlns:a16="http://schemas.microsoft.com/office/drawing/2014/main" val="20000"/>
                    </a:ext>
                  </a:extLst>
                </a:gridCol>
                <a:gridCol w="1718340">
                  <a:extLst>
                    <a:ext uri="{9D8B030D-6E8A-4147-A177-3AD203B41FA5}">
                      <a16:colId xmlns:a16="http://schemas.microsoft.com/office/drawing/2014/main" val="20001"/>
                    </a:ext>
                  </a:extLst>
                </a:gridCol>
                <a:gridCol w="1817228">
                  <a:extLst>
                    <a:ext uri="{9D8B030D-6E8A-4147-A177-3AD203B41FA5}">
                      <a16:colId xmlns:a16="http://schemas.microsoft.com/office/drawing/2014/main" val="20002"/>
                    </a:ext>
                  </a:extLst>
                </a:gridCol>
                <a:gridCol w="2563382">
                  <a:extLst>
                    <a:ext uri="{9D8B030D-6E8A-4147-A177-3AD203B41FA5}">
                      <a16:colId xmlns:a16="http://schemas.microsoft.com/office/drawing/2014/main" val="20003"/>
                    </a:ext>
                  </a:extLst>
                </a:gridCol>
              </a:tblGrid>
              <a:tr h="479694">
                <a:tc>
                  <a:txBody>
                    <a:bodyPr/>
                    <a:lstStyle/>
                    <a:p>
                      <a:pPr algn="l">
                        <a:lnSpc>
                          <a:spcPts val="2310"/>
                        </a:lnSpc>
                        <a:defRPr/>
                      </a:pPr>
                      <a:r>
                        <a:rPr lang="en-US" sz="1650" b="1">
                          <a:solidFill>
                            <a:srgbClr val="000000"/>
                          </a:solidFill>
                          <a:latin typeface="Open Sans Bold"/>
                          <a:ea typeface="Open Sans Bold"/>
                          <a:cs typeface="Open Sans Bold"/>
                          <a:sym typeface="Open Sans Bold"/>
                        </a:rPr>
                        <a:t>Row Labels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l">
                        <a:lnSpc>
                          <a:spcPts val="2310"/>
                        </a:lnSpc>
                        <a:defRPr/>
                      </a:pPr>
                      <a:r>
                        <a:rPr lang="en-US" sz="1650" b="1">
                          <a:solidFill>
                            <a:srgbClr val="000000"/>
                          </a:solidFill>
                          <a:latin typeface="Open Sans Bold"/>
                          <a:ea typeface="Open Sans Bold"/>
                          <a:cs typeface="Open Sans Bold"/>
                          <a:sym typeface="Open Sans Bold"/>
                        </a:rPr>
                        <a:t>Sum of TOTAL_UNIT_SALES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l">
                        <a:lnSpc>
                          <a:spcPts val="2310"/>
                        </a:lnSpc>
                        <a:defRPr/>
                      </a:pPr>
                      <a:r>
                        <a:rPr lang="en-US" sz="1650" b="1">
                          <a:solidFill>
                            <a:srgbClr val="000000"/>
                          </a:solidFill>
                          <a:latin typeface="Open Sans Bold"/>
                          <a:ea typeface="Open Sans Bold"/>
                          <a:cs typeface="Open Sans Bold"/>
                          <a:sym typeface="Open Sans Bold"/>
                        </a:rPr>
                        <a:t>Sum of TOTAL_UNIT_AVG_WEEKLY_SALES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l">
                        <a:lnSpc>
                          <a:spcPts val="2310"/>
                        </a:lnSpc>
                        <a:defRPr/>
                      </a:pPr>
                      <a:r>
                        <a:rPr lang="en-US" sz="1650" b="1">
                          <a:solidFill>
                            <a:srgbClr val="000000"/>
                          </a:solidFill>
                          <a:latin typeface="Open Sans Bold"/>
                          <a:ea typeface="Open Sans Bold"/>
                          <a:cs typeface="Open Sans Bold"/>
                          <a:sym typeface="Open Sans Bold"/>
                        </a:rPr>
                        <a:t>Sum of TOTAL_VALUE_SALES</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extLst>
                  <a:ext uri="{0D108BD9-81ED-4DB2-BD59-A6C34878D82A}">
                    <a16:rowId xmlns:a16="http://schemas.microsoft.com/office/drawing/2014/main" val="10000"/>
                  </a:ext>
                </a:extLst>
              </a:tr>
              <a:tr h="479694">
                <a:tc>
                  <a:txBody>
                    <a:bodyPr/>
                    <a:lstStyle/>
                    <a:p>
                      <a:pPr algn="l">
                        <a:lnSpc>
                          <a:spcPts val="2100"/>
                        </a:lnSpc>
                        <a:defRPr/>
                      </a:pPr>
                      <a:r>
                        <a:rPr lang="en-US" sz="1500">
                          <a:solidFill>
                            <a:srgbClr val="000000"/>
                          </a:solidFill>
                          <a:latin typeface="Open Sans"/>
                          <a:ea typeface="Open Sans"/>
                          <a:cs typeface="Open Sans"/>
                          <a:sym typeface="Open Sans"/>
                        </a:rPr>
                        <a:t>TOTAL AUTOS AREA 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25791.933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128718.312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6.47%</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79694">
                <a:tc>
                  <a:txBody>
                    <a:bodyPr/>
                    <a:lstStyle/>
                    <a:p>
                      <a:pPr algn="l">
                        <a:lnSpc>
                          <a:spcPts val="2100"/>
                        </a:lnSpc>
                        <a:defRPr/>
                      </a:pPr>
                      <a:r>
                        <a:rPr lang="en-US" sz="1500">
                          <a:solidFill>
                            <a:srgbClr val="000000"/>
                          </a:solidFill>
                          <a:latin typeface="Open Sans"/>
                          <a:ea typeface="Open Sans"/>
                          <a:cs typeface="Open Sans"/>
                          <a:sym typeface="Open Sans"/>
                        </a:rPr>
                        <a:t>TOTAL AUTOS AREA 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45319.916</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180553.221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10.77%</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79694">
                <a:tc>
                  <a:txBody>
                    <a:bodyPr/>
                    <a:lstStyle/>
                    <a:p>
                      <a:pPr algn="l">
                        <a:lnSpc>
                          <a:spcPts val="2100"/>
                        </a:lnSpc>
                        <a:defRPr/>
                      </a:pPr>
                      <a:r>
                        <a:rPr lang="en-US" sz="1500">
                          <a:solidFill>
                            <a:srgbClr val="000000"/>
                          </a:solidFill>
                          <a:latin typeface="Open Sans"/>
                          <a:ea typeface="Open Sans"/>
                          <a:cs typeface="Open Sans"/>
                          <a:sym typeface="Open Sans"/>
                        </a:rPr>
                        <a:t>TOTAL AUTOS AREA 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25896.054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181328.12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7.28%</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79694">
                <a:tc>
                  <a:txBody>
                    <a:bodyPr/>
                    <a:lstStyle/>
                    <a:p>
                      <a:pPr algn="l">
                        <a:lnSpc>
                          <a:spcPts val="2100"/>
                        </a:lnSpc>
                        <a:defRPr/>
                      </a:pPr>
                      <a:r>
                        <a:rPr lang="en-US" sz="1500">
                          <a:solidFill>
                            <a:srgbClr val="000000"/>
                          </a:solidFill>
                          <a:latin typeface="Open Sans"/>
                          <a:ea typeface="Open Sans"/>
                          <a:cs typeface="Open Sans"/>
                          <a:sym typeface="Open Sans"/>
                        </a:rPr>
                        <a:t>TOTAL AUTOS AREA 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24020.149</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154650.329</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6.13%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479694">
                <a:tc>
                  <a:txBody>
                    <a:bodyPr/>
                    <a:lstStyle/>
                    <a:p>
                      <a:pPr algn="l">
                        <a:lnSpc>
                          <a:spcPts val="2100"/>
                        </a:lnSpc>
                        <a:defRPr/>
                      </a:pPr>
                      <a:r>
                        <a:rPr lang="en-US" sz="1500">
                          <a:solidFill>
                            <a:srgbClr val="000000"/>
                          </a:solidFill>
                          <a:latin typeface="Open Sans"/>
                          <a:ea typeface="Open Sans"/>
                          <a:cs typeface="Open Sans"/>
                          <a:sym typeface="Open Sans"/>
                        </a:rPr>
                        <a:t>TOTAL AUTOS AREA 5</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36266.9</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175129.123</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10.44%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479694">
                <a:tc>
                  <a:txBody>
                    <a:bodyPr/>
                    <a:lstStyle/>
                    <a:p>
                      <a:pPr algn="l">
                        <a:lnSpc>
                          <a:spcPts val="2100"/>
                        </a:lnSpc>
                        <a:defRPr/>
                      </a:pPr>
                      <a:r>
                        <a:rPr lang="en-US" sz="1500">
                          <a:solidFill>
                            <a:srgbClr val="000000"/>
                          </a:solidFill>
                          <a:latin typeface="Open Sans"/>
                          <a:ea typeface="Open Sans"/>
                          <a:cs typeface="Open Sans"/>
                          <a:sym typeface="Open Sans"/>
                        </a:rPr>
                        <a:t>TOTAL AUTOS AREA 6</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38585.222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183537.888</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8.91%</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479694">
                <a:tc>
                  <a:txBody>
                    <a:bodyPr/>
                    <a:lstStyle/>
                    <a:p>
                      <a:pPr algn="l">
                        <a:lnSpc>
                          <a:spcPts val="2100"/>
                        </a:lnSpc>
                        <a:defRPr/>
                      </a:pPr>
                      <a:r>
                        <a:rPr lang="en-US" sz="1500">
                          <a:solidFill>
                            <a:srgbClr val="000000"/>
                          </a:solidFill>
                          <a:latin typeface="Open Sans"/>
                          <a:ea typeface="Open Sans"/>
                          <a:cs typeface="Open Sans"/>
                          <a:sym typeface="Open Sans"/>
                        </a:rPr>
                        <a:t>TOTAL AUTOS SCANNING MEXICO</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195880.054</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228291.492</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a:lnSpc>
                          <a:spcPts val="2100"/>
                        </a:lnSpc>
                        <a:defRPr/>
                      </a:pPr>
                      <a:r>
                        <a:rPr lang="en-US" sz="1500">
                          <a:solidFill>
                            <a:srgbClr val="000000"/>
                          </a:solidFill>
                          <a:latin typeface="Open Sans"/>
                          <a:ea typeface="Open Sans"/>
                          <a:cs typeface="Open Sans"/>
                          <a:sym typeface="Open Sans"/>
                        </a:rPr>
                        <a:t>50.00%</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r h="479694">
                <a:tc>
                  <a:txBody>
                    <a:bodyPr/>
                    <a:lstStyle/>
                    <a:p>
                      <a:pPr algn="l">
                        <a:lnSpc>
                          <a:spcPts val="2310"/>
                        </a:lnSpc>
                        <a:defRPr/>
                      </a:pPr>
                      <a:r>
                        <a:rPr lang="en-US" sz="1650" b="1">
                          <a:solidFill>
                            <a:srgbClr val="000000"/>
                          </a:solidFill>
                          <a:latin typeface="Open Sans Bold"/>
                          <a:ea typeface="Open Sans Bold"/>
                          <a:cs typeface="Open Sans Bold"/>
                          <a:sym typeface="Open Sans Bold"/>
                        </a:rPr>
                        <a:t>Grand Total</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ctr">
                        <a:lnSpc>
                          <a:spcPts val="2310"/>
                        </a:lnSpc>
                        <a:defRPr/>
                      </a:pPr>
                      <a:r>
                        <a:rPr lang="en-US" sz="1650" b="1">
                          <a:solidFill>
                            <a:srgbClr val="000000"/>
                          </a:solidFill>
                          <a:latin typeface="Open Sans Bold"/>
                          <a:ea typeface="Open Sans Bold"/>
                          <a:cs typeface="Open Sans Bold"/>
                          <a:sym typeface="Open Sans Bold"/>
                        </a:rPr>
                        <a:t>391760.228</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ctr">
                        <a:lnSpc>
                          <a:spcPts val="2310"/>
                        </a:lnSpc>
                        <a:defRPr/>
                      </a:pPr>
                      <a:r>
                        <a:rPr lang="en-US" sz="1650" b="1">
                          <a:solidFill>
                            <a:srgbClr val="000000"/>
                          </a:solidFill>
                          <a:latin typeface="Open Sans Bold"/>
                          <a:ea typeface="Open Sans Bold"/>
                          <a:cs typeface="Open Sans Bold"/>
                          <a:sym typeface="Open Sans Bold"/>
                        </a:rPr>
                        <a:t>1232208.485</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tc>
                  <a:txBody>
                    <a:bodyPr/>
                    <a:lstStyle/>
                    <a:p>
                      <a:pPr algn="ctr">
                        <a:lnSpc>
                          <a:spcPts val="2310"/>
                        </a:lnSpc>
                        <a:defRPr/>
                      </a:pPr>
                      <a:r>
                        <a:rPr lang="en-US" sz="1650" b="1">
                          <a:solidFill>
                            <a:srgbClr val="000000"/>
                          </a:solidFill>
                          <a:latin typeface="Open Sans Bold"/>
                          <a:ea typeface="Open Sans Bold"/>
                          <a:cs typeface="Open Sans Bold"/>
                          <a:sym typeface="Open Sans Bold"/>
                        </a:rPr>
                        <a:t>100.00%</a:t>
                      </a:r>
                      <a:endParaRPr lang="en-US" sz="1100"/>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E6F5"/>
                    </a:solidFill>
                  </a:tcPr>
                </a:tc>
                <a:extLst>
                  <a:ext uri="{0D108BD9-81ED-4DB2-BD59-A6C34878D82A}">
                    <a16:rowId xmlns:a16="http://schemas.microsoft.com/office/drawing/2014/main" val="10008"/>
                  </a:ext>
                </a:extLst>
              </a:tr>
            </a:tbl>
          </a:graphicData>
        </a:graphic>
      </p:graphicFrame>
      <p:sp>
        <p:nvSpPr>
          <p:cNvPr id="6" name="TextBox 6"/>
          <p:cNvSpPr txBox="1"/>
          <p:nvPr/>
        </p:nvSpPr>
        <p:spPr>
          <a:xfrm>
            <a:off x="1551931" y="5817558"/>
            <a:ext cx="5498936" cy="3787776"/>
          </a:xfrm>
          <a:prstGeom prst="rect">
            <a:avLst/>
          </a:prstGeom>
        </p:spPr>
        <p:txBody>
          <a:bodyPr lIns="0" tIns="0" rIns="0" bIns="0" rtlCol="0" anchor="t">
            <a:spAutoFit/>
          </a:bodyPr>
          <a:lstStyle/>
          <a:p>
            <a:pPr algn="just">
              <a:lnSpc>
                <a:spcPts val="4899"/>
              </a:lnSpc>
              <a:spcBef>
                <a:spcPct val="0"/>
              </a:spcBef>
            </a:pPr>
            <a:r>
              <a:rPr lang="en-US" sz="3499">
                <a:solidFill>
                  <a:srgbClr val="000000"/>
                </a:solidFill>
                <a:latin typeface="Agrandir"/>
                <a:ea typeface="Agrandir"/>
                <a:cs typeface="Agrandir"/>
                <a:sym typeface="Agrandir"/>
              </a:rPr>
              <a:t>Se identifica que ciertas regiones concentran una mayor proporción de las ventas totales, destacando como mercados clave.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4243025" y="6242025"/>
            <a:ext cx="8089950" cy="8089950"/>
          </a:xfrm>
          <a:custGeom>
            <a:avLst/>
            <a:gdLst/>
            <a:ahLst/>
            <a:cxnLst/>
            <a:rect l="l" t="t" r="r" b="b"/>
            <a:pathLst>
              <a:path w="8089950" h="8089950">
                <a:moveTo>
                  <a:pt x="0" y="0"/>
                </a:moveTo>
                <a:lnTo>
                  <a:pt x="8089950" y="0"/>
                </a:lnTo>
                <a:lnTo>
                  <a:pt x="8089950" y="8089950"/>
                </a:lnTo>
                <a:lnTo>
                  <a:pt x="0" y="8089950"/>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TextBox 4"/>
          <p:cNvSpPr txBox="1"/>
          <p:nvPr/>
        </p:nvSpPr>
        <p:spPr>
          <a:xfrm>
            <a:off x="1454222" y="1681316"/>
            <a:ext cx="15379556" cy="1302754"/>
          </a:xfrm>
          <a:prstGeom prst="rect">
            <a:avLst/>
          </a:prstGeom>
        </p:spPr>
        <p:txBody>
          <a:bodyPr lIns="0" tIns="0" rIns="0" bIns="0" rtlCol="0" anchor="t">
            <a:spAutoFit/>
          </a:bodyPr>
          <a:lstStyle/>
          <a:p>
            <a:pPr algn="l">
              <a:lnSpc>
                <a:spcPts val="4844"/>
              </a:lnSpc>
            </a:pPr>
            <a:r>
              <a:rPr lang="en-US" sz="3460" b="1">
                <a:solidFill>
                  <a:srgbClr val="1C4439"/>
                </a:solidFill>
                <a:latin typeface="Agrandir Bold"/>
                <a:ea typeface="Agrandir Bold"/>
                <a:cs typeface="Agrandir Bold"/>
                <a:sym typeface="Agrandir Bold"/>
              </a:rPr>
              <a:t>SQL permitió estructurar y relacionar la información para su análisis.</a:t>
            </a:r>
          </a:p>
          <a:p>
            <a:pPr algn="just">
              <a:lnSpc>
                <a:spcPts val="4844"/>
              </a:lnSpc>
              <a:spcBef>
                <a:spcPct val="0"/>
              </a:spcBef>
            </a:pPr>
            <a:endParaRPr lang="en-US" sz="3460" b="1">
              <a:solidFill>
                <a:srgbClr val="1C4439"/>
              </a:solidFill>
              <a:latin typeface="Agrandir Bold"/>
              <a:ea typeface="Agrandir Bold"/>
              <a:cs typeface="Agrandir Bold"/>
              <a:sym typeface="Agrandir Bold"/>
            </a:endParaRPr>
          </a:p>
        </p:txBody>
      </p:sp>
      <p:grpSp>
        <p:nvGrpSpPr>
          <p:cNvPr id="5" name="Group 5"/>
          <p:cNvGrpSpPr/>
          <p:nvPr/>
        </p:nvGrpSpPr>
        <p:grpSpPr>
          <a:xfrm>
            <a:off x="1810241" y="2605490"/>
            <a:ext cx="6726797" cy="1726231"/>
            <a:chOff x="0" y="0"/>
            <a:chExt cx="2399646" cy="615797"/>
          </a:xfrm>
        </p:grpSpPr>
        <p:sp>
          <p:nvSpPr>
            <p:cNvPr id="6" name="Freeform 6"/>
            <p:cNvSpPr/>
            <p:nvPr/>
          </p:nvSpPr>
          <p:spPr>
            <a:xfrm>
              <a:off x="0" y="0"/>
              <a:ext cx="2399646" cy="615797"/>
            </a:xfrm>
            <a:custGeom>
              <a:avLst/>
              <a:gdLst/>
              <a:ahLst/>
              <a:cxnLst/>
              <a:rect l="l" t="t" r="r" b="b"/>
              <a:pathLst>
                <a:path w="2399646" h="615797">
                  <a:moveTo>
                    <a:pt x="25320" y="0"/>
                  </a:moveTo>
                  <a:lnTo>
                    <a:pt x="2374326" y="0"/>
                  </a:lnTo>
                  <a:cubicBezTo>
                    <a:pt x="2388310" y="0"/>
                    <a:pt x="2399646" y="11336"/>
                    <a:pt x="2399646" y="25320"/>
                  </a:cubicBezTo>
                  <a:lnTo>
                    <a:pt x="2399646" y="590477"/>
                  </a:lnTo>
                  <a:cubicBezTo>
                    <a:pt x="2399646" y="604461"/>
                    <a:pt x="2388310" y="615797"/>
                    <a:pt x="2374326" y="615797"/>
                  </a:cubicBezTo>
                  <a:lnTo>
                    <a:pt x="25320" y="615797"/>
                  </a:lnTo>
                  <a:cubicBezTo>
                    <a:pt x="11336" y="615797"/>
                    <a:pt x="0" y="604461"/>
                    <a:pt x="0" y="590477"/>
                  </a:cubicBezTo>
                  <a:lnTo>
                    <a:pt x="0" y="25320"/>
                  </a:lnTo>
                  <a:cubicBezTo>
                    <a:pt x="0" y="11336"/>
                    <a:pt x="11336" y="0"/>
                    <a:pt x="25320" y="0"/>
                  </a:cubicBezTo>
                  <a:close/>
                </a:path>
              </a:pathLst>
            </a:custGeom>
            <a:solidFill>
              <a:srgbClr val="FFFFFE"/>
            </a:solidFill>
            <a:ln w="66675" cap="rnd">
              <a:gradFill>
                <a:gsLst>
                  <a:gs pos="0">
                    <a:srgbClr val="6EC8BD">
                      <a:alpha val="100000"/>
                    </a:srgbClr>
                  </a:gs>
                  <a:gs pos="100000">
                    <a:srgbClr val="2F6359">
                      <a:alpha val="100000"/>
                    </a:srgbClr>
                  </a:gs>
                </a:gsLst>
                <a:lin ang="0"/>
              </a:gradFill>
              <a:prstDash val="solid"/>
              <a:round/>
            </a:ln>
          </p:spPr>
          <p:txBody>
            <a:bodyPr/>
            <a:lstStyle/>
            <a:p>
              <a:endParaRPr lang="en-US"/>
            </a:p>
          </p:txBody>
        </p:sp>
        <p:sp>
          <p:nvSpPr>
            <p:cNvPr id="7" name="TextBox 7"/>
            <p:cNvSpPr txBox="1"/>
            <p:nvPr/>
          </p:nvSpPr>
          <p:spPr>
            <a:xfrm>
              <a:off x="0" y="-28575"/>
              <a:ext cx="2399646" cy="644372"/>
            </a:xfrm>
            <a:prstGeom prst="rect">
              <a:avLst/>
            </a:prstGeom>
          </p:spPr>
          <p:txBody>
            <a:bodyPr lIns="50800" tIns="50800" rIns="50800" bIns="50800" rtlCol="0" anchor="ctr"/>
            <a:lstStyle/>
            <a:p>
              <a:pPr algn="ctr">
                <a:lnSpc>
                  <a:spcPts val="2100"/>
                </a:lnSpc>
              </a:pPr>
              <a:endParaRPr/>
            </a:p>
          </p:txBody>
        </p:sp>
      </p:grpSp>
      <p:sp>
        <p:nvSpPr>
          <p:cNvPr id="8" name="Freeform 8"/>
          <p:cNvSpPr/>
          <p:nvPr/>
        </p:nvSpPr>
        <p:spPr>
          <a:xfrm>
            <a:off x="1207989" y="2796484"/>
            <a:ext cx="1204503" cy="1204503"/>
          </a:xfrm>
          <a:custGeom>
            <a:avLst/>
            <a:gdLst/>
            <a:ahLst/>
            <a:cxnLst/>
            <a:rect l="l" t="t" r="r" b="b"/>
            <a:pathLst>
              <a:path w="1204503" h="1204503">
                <a:moveTo>
                  <a:pt x="0" y="0"/>
                </a:moveTo>
                <a:lnTo>
                  <a:pt x="1204503" y="0"/>
                </a:lnTo>
                <a:lnTo>
                  <a:pt x="1204503" y="1204503"/>
                </a:lnTo>
                <a:lnTo>
                  <a:pt x="0" y="1204503"/>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9" name="Freeform 9"/>
          <p:cNvSpPr/>
          <p:nvPr/>
        </p:nvSpPr>
        <p:spPr>
          <a:xfrm>
            <a:off x="982067" y="4897319"/>
            <a:ext cx="8383145" cy="4872703"/>
          </a:xfrm>
          <a:custGeom>
            <a:avLst/>
            <a:gdLst/>
            <a:ahLst/>
            <a:cxnLst/>
            <a:rect l="l" t="t" r="r" b="b"/>
            <a:pathLst>
              <a:path w="8383145" h="4872703">
                <a:moveTo>
                  <a:pt x="0" y="0"/>
                </a:moveTo>
                <a:lnTo>
                  <a:pt x="8383145" y="0"/>
                </a:lnTo>
                <a:lnTo>
                  <a:pt x="8383145" y="4872703"/>
                </a:lnTo>
                <a:lnTo>
                  <a:pt x="0" y="4872703"/>
                </a:lnTo>
                <a:lnTo>
                  <a:pt x="0" y="0"/>
                </a:lnTo>
                <a:close/>
              </a:path>
            </a:pathLst>
          </a:custGeom>
          <a:blipFill>
            <a:blip r:embed="rId5"/>
            <a:stretch>
              <a:fillRect/>
            </a:stretch>
          </a:blipFill>
        </p:spPr>
        <p:txBody>
          <a:bodyPr/>
          <a:lstStyle/>
          <a:p>
            <a:endParaRPr lang="en-US"/>
          </a:p>
        </p:txBody>
      </p:sp>
      <p:sp>
        <p:nvSpPr>
          <p:cNvPr id="10" name="Freeform 10"/>
          <p:cNvSpPr/>
          <p:nvPr/>
        </p:nvSpPr>
        <p:spPr>
          <a:xfrm>
            <a:off x="10042423" y="2605490"/>
            <a:ext cx="7216877" cy="2291829"/>
          </a:xfrm>
          <a:custGeom>
            <a:avLst/>
            <a:gdLst/>
            <a:ahLst/>
            <a:cxnLst/>
            <a:rect l="l" t="t" r="r" b="b"/>
            <a:pathLst>
              <a:path w="7216877" h="2291829">
                <a:moveTo>
                  <a:pt x="0" y="0"/>
                </a:moveTo>
                <a:lnTo>
                  <a:pt x="7216877" y="0"/>
                </a:lnTo>
                <a:lnTo>
                  <a:pt x="7216877" y="2291829"/>
                </a:lnTo>
                <a:lnTo>
                  <a:pt x="0" y="2291829"/>
                </a:lnTo>
                <a:lnTo>
                  <a:pt x="0" y="0"/>
                </a:lnTo>
                <a:close/>
              </a:path>
            </a:pathLst>
          </a:custGeom>
          <a:blipFill>
            <a:blip r:embed="rId6"/>
            <a:stretch>
              <a:fillRect r="-19819" b="-40074"/>
            </a:stretch>
          </a:blipFill>
        </p:spPr>
        <p:txBody>
          <a:bodyPr/>
          <a:lstStyle/>
          <a:p>
            <a:endParaRPr lang="en-US"/>
          </a:p>
        </p:txBody>
      </p:sp>
      <p:sp>
        <p:nvSpPr>
          <p:cNvPr id="11" name="Freeform 11"/>
          <p:cNvSpPr/>
          <p:nvPr/>
        </p:nvSpPr>
        <p:spPr>
          <a:xfrm>
            <a:off x="10401404" y="5031976"/>
            <a:ext cx="6498914" cy="5020411"/>
          </a:xfrm>
          <a:custGeom>
            <a:avLst/>
            <a:gdLst/>
            <a:ahLst/>
            <a:cxnLst/>
            <a:rect l="l" t="t" r="r" b="b"/>
            <a:pathLst>
              <a:path w="6498914" h="5020411">
                <a:moveTo>
                  <a:pt x="0" y="0"/>
                </a:moveTo>
                <a:lnTo>
                  <a:pt x="6498914" y="0"/>
                </a:lnTo>
                <a:lnTo>
                  <a:pt x="6498914" y="5020411"/>
                </a:lnTo>
                <a:lnTo>
                  <a:pt x="0" y="5020411"/>
                </a:lnTo>
                <a:lnTo>
                  <a:pt x="0" y="0"/>
                </a:lnTo>
                <a:close/>
              </a:path>
            </a:pathLst>
          </a:custGeom>
          <a:blipFill>
            <a:blip r:embed="rId7"/>
            <a:stretch>
              <a:fillRect/>
            </a:stretch>
          </a:blipFill>
        </p:spPr>
        <p:txBody>
          <a:bodyPr/>
          <a:lstStyle/>
          <a:p>
            <a:endParaRPr lang="en-US"/>
          </a:p>
        </p:txBody>
      </p:sp>
      <p:sp>
        <p:nvSpPr>
          <p:cNvPr id="12" name="TextBox 12"/>
          <p:cNvSpPr txBox="1"/>
          <p:nvPr/>
        </p:nvSpPr>
        <p:spPr>
          <a:xfrm>
            <a:off x="1879744" y="-35130"/>
            <a:ext cx="14528512" cy="1689101"/>
          </a:xfrm>
          <a:prstGeom prst="rect">
            <a:avLst/>
          </a:prstGeom>
        </p:spPr>
        <p:txBody>
          <a:bodyPr lIns="0" tIns="0" rIns="0" bIns="0" rtlCol="0" anchor="t">
            <a:spAutoFit/>
          </a:bodyPr>
          <a:lstStyle/>
          <a:p>
            <a:pPr algn="l">
              <a:lnSpc>
                <a:spcPts val="11899"/>
              </a:lnSpc>
              <a:spcBef>
                <a:spcPct val="0"/>
              </a:spcBef>
            </a:pPr>
            <a:r>
              <a:rPr lang="en-US" sz="8499"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Modelado de datos en SQL</a:t>
            </a:r>
          </a:p>
        </p:txBody>
      </p:sp>
      <p:sp>
        <p:nvSpPr>
          <p:cNvPr id="13" name="TextBox 13"/>
          <p:cNvSpPr txBox="1"/>
          <p:nvPr/>
        </p:nvSpPr>
        <p:spPr>
          <a:xfrm>
            <a:off x="2412492" y="2692230"/>
            <a:ext cx="6124545" cy="1463675"/>
          </a:xfrm>
          <a:prstGeom prst="rect">
            <a:avLst/>
          </a:prstGeom>
        </p:spPr>
        <p:txBody>
          <a:bodyPr lIns="0" tIns="0" rIns="0" bIns="0" rtlCol="0" anchor="t">
            <a:spAutoFit/>
          </a:bodyPr>
          <a:lstStyle/>
          <a:p>
            <a:pPr algn="l">
              <a:lnSpc>
                <a:spcPts val="2800"/>
              </a:lnSpc>
              <a:spcBef>
                <a:spcPct val="0"/>
              </a:spcBef>
            </a:pPr>
            <a:r>
              <a:rPr lang="en-US" sz="2000">
                <a:solidFill>
                  <a:srgbClr val="091713"/>
                </a:solidFill>
                <a:latin typeface="Agrandir"/>
                <a:ea typeface="Agrandir"/>
                <a:cs typeface="Agrandir"/>
                <a:sym typeface="Agrandir"/>
              </a:rPr>
              <a:t>Contenido:</a:t>
            </a:r>
          </a:p>
          <a:p>
            <a:pPr marL="431801" lvl="1" indent="-215900" algn="l">
              <a:lnSpc>
                <a:spcPts val="2800"/>
              </a:lnSpc>
              <a:spcBef>
                <a:spcPct val="0"/>
              </a:spcBef>
              <a:buFont typeface="Arial"/>
              <a:buChar char="•"/>
            </a:pPr>
            <a:r>
              <a:rPr lang="en-US" sz="2000">
                <a:solidFill>
                  <a:srgbClr val="091713"/>
                </a:solidFill>
                <a:latin typeface="Agrandir"/>
                <a:ea typeface="Agrandir"/>
                <a:cs typeface="Agrandir"/>
                <a:sym typeface="Agrandir"/>
              </a:rPr>
              <a:t>Creación de base de datos: ProyectoVentas</a:t>
            </a:r>
          </a:p>
          <a:p>
            <a:pPr marL="431801" lvl="1" indent="-215900" algn="l">
              <a:lnSpc>
                <a:spcPts val="2800"/>
              </a:lnSpc>
              <a:spcBef>
                <a:spcPct val="0"/>
              </a:spcBef>
              <a:buFont typeface="Arial"/>
              <a:buChar char="•"/>
            </a:pPr>
            <a:r>
              <a:rPr lang="en-US" sz="2000">
                <a:solidFill>
                  <a:srgbClr val="091713"/>
                </a:solidFill>
                <a:latin typeface="Agrandir"/>
                <a:ea typeface="Agrandir"/>
                <a:cs typeface="Agrandir"/>
                <a:sym typeface="Agrandir"/>
              </a:rPr>
              <a:t>Importación de tablas</a:t>
            </a:r>
          </a:p>
          <a:p>
            <a:pPr marL="431801" lvl="1" indent="-215900" algn="l">
              <a:lnSpc>
                <a:spcPts val="2800"/>
              </a:lnSpc>
              <a:spcBef>
                <a:spcPct val="0"/>
              </a:spcBef>
              <a:buFont typeface="Arial"/>
              <a:buChar char="•"/>
            </a:pPr>
            <a:r>
              <a:rPr lang="en-US" sz="2000">
                <a:solidFill>
                  <a:srgbClr val="091713"/>
                </a:solidFill>
                <a:latin typeface="Agrandir"/>
                <a:ea typeface="Agrandir"/>
                <a:cs typeface="Agrandir"/>
                <a:sym typeface="Agrandir"/>
              </a:rPr>
              <a:t>Validación de datos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395943" y="0"/>
            <a:ext cx="7171483" cy="5022793"/>
          </a:xfrm>
          <a:custGeom>
            <a:avLst/>
            <a:gdLst/>
            <a:ahLst/>
            <a:cxnLst/>
            <a:rect l="l" t="t" r="r" b="b"/>
            <a:pathLst>
              <a:path w="7171483" h="5022793">
                <a:moveTo>
                  <a:pt x="0" y="0"/>
                </a:moveTo>
                <a:lnTo>
                  <a:pt x="7171483" y="0"/>
                </a:lnTo>
                <a:lnTo>
                  <a:pt x="7171483" y="5022793"/>
                </a:lnTo>
                <a:lnTo>
                  <a:pt x="0" y="5022793"/>
                </a:lnTo>
                <a:lnTo>
                  <a:pt x="0" y="0"/>
                </a:lnTo>
                <a:close/>
              </a:path>
            </a:pathLst>
          </a:custGeom>
          <a:blipFill>
            <a:blip r:embed="rId3"/>
            <a:stretch>
              <a:fillRect/>
            </a:stretch>
          </a:blipFill>
        </p:spPr>
        <p:txBody>
          <a:bodyPr/>
          <a:lstStyle/>
          <a:p>
            <a:endParaRPr lang="en-US"/>
          </a:p>
        </p:txBody>
      </p:sp>
      <p:sp>
        <p:nvSpPr>
          <p:cNvPr id="4" name="Freeform 4"/>
          <p:cNvSpPr/>
          <p:nvPr/>
        </p:nvSpPr>
        <p:spPr>
          <a:xfrm>
            <a:off x="2571777" y="5143500"/>
            <a:ext cx="5513823" cy="5143500"/>
          </a:xfrm>
          <a:custGeom>
            <a:avLst/>
            <a:gdLst/>
            <a:ahLst/>
            <a:cxnLst/>
            <a:rect l="l" t="t" r="r" b="b"/>
            <a:pathLst>
              <a:path w="5513823" h="5143500">
                <a:moveTo>
                  <a:pt x="0" y="0"/>
                </a:moveTo>
                <a:lnTo>
                  <a:pt x="5513823" y="0"/>
                </a:lnTo>
                <a:lnTo>
                  <a:pt x="5513823" y="5143500"/>
                </a:lnTo>
                <a:lnTo>
                  <a:pt x="0" y="5143500"/>
                </a:lnTo>
                <a:lnTo>
                  <a:pt x="0" y="0"/>
                </a:lnTo>
                <a:close/>
              </a:path>
            </a:pathLst>
          </a:custGeom>
          <a:blipFill>
            <a:blip r:embed="rId4"/>
            <a:stretch>
              <a:fillRect l="-2344" b="-4841"/>
            </a:stretch>
          </a:blipFill>
        </p:spPr>
        <p:txBody>
          <a:bodyPr/>
          <a:lstStyle/>
          <a:p>
            <a:endParaRPr lang="en-US"/>
          </a:p>
        </p:txBody>
      </p:sp>
      <p:sp>
        <p:nvSpPr>
          <p:cNvPr id="5" name="Freeform 5"/>
          <p:cNvSpPr/>
          <p:nvPr/>
        </p:nvSpPr>
        <p:spPr>
          <a:xfrm>
            <a:off x="10740538" y="563900"/>
            <a:ext cx="6518762" cy="6789304"/>
          </a:xfrm>
          <a:custGeom>
            <a:avLst/>
            <a:gdLst/>
            <a:ahLst/>
            <a:cxnLst/>
            <a:rect l="l" t="t" r="r" b="b"/>
            <a:pathLst>
              <a:path w="6518762" h="6789304">
                <a:moveTo>
                  <a:pt x="0" y="0"/>
                </a:moveTo>
                <a:lnTo>
                  <a:pt x="6518762" y="0"/>
                </a:lnTo>
                <a:lnTo>
                  <a:pt x="6518762" y="6789304"/>
                </a:lnTo>
                <a:lnTo>
                  <a:pt x="0" y="6789304"/>
                </a:lnTo>
                <a:lnTo>
                  <a:pt x="0" y="0"/>
                </a:lnTo>
                <a:close/>
              </a:path>
            </a:pathLst>
          </a:custGeom>
          <a:blipFill>
            <a:blip r:embed="rId5"/>
            <a:stretch>
              <a:fillRect/>
            </a:stretch>
          </a:blipFill>
        </p:spPr>
        <p:txBody>
          <a:bodyPr/>
          <a:lstStyle/>
          <a:p>
            <a:endParaRPr lang="en-US"/>
          </a:p>
        </p:txBody>
      </p:sp>
      <p:sp>
        <p:nvSpPr>
          <p:cNvPr id="6" name="TextBox 6"/>
          <p:cNvSpPr txBox="1"/>
          <p:nvPr/>
        </p:nvSpPr>
        <p:spPr>
          <a:xfrm rot="-5400000">
            <a:off x="-3829839" y="4248150"/>
            <a:ext cx="9994345" cy="1790700"/>
          </a:xfrm>
          <a:prstGeom prst="rect">
            <a:avLst/>
          </a:prstGeom>
        </p:spPr>
        <p:txBody>
          <a:bodyPr lIns="0" tIns="0" rIns="0" bIns="0" rtlCol="0" anchor="t">
            <a:spAutoFit/>
          </a:bodyPr>
          <a:lstStyle/>
          <a:p>
            <a:pPr algn="l">
              <a:lnSpc>
                <a:spcPts val="12599"/>
              </a:lnSpc>
              <a:spcBef>
                <a:spcPct val="0"/>
              </a:spcBef>
            </a:pPr>
            <a:r>
              <a:rPr lang="en-US" sz="9000"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CONSULTAS SQL</a:t>
            </a:r>
          </a:p>
        </p:txBody>
      </p:sp>
      <p:sp>
        <p:nvSpPr>
          <p:cNvPr id="7" name="TextBox 7"/>
          <p:cNvSpPr txBox="1"/>
          <p:nvPr/>
        </p:nvSpPr>
        <p:spPr>
          <a:xfrm>
            <a:off x="8875079" y="8293171"/>
            <a:ext cx="8384221" cy="1320800"/>
          </a:xfrm>
          <a:prstGeom prst="rect">
            <a:avLst/>
          </a:prstGeom>
        </p:spPr>
        <p:txBody>
          <a:bodyPr lIns="0" tIns="0" rIns="0" bIns="0" rtlCol="0" anchor="t">
            <a:spAutoFit/>
          </a:bodyPr>
          <a:lstStyle/>
          <a:p>
            <a:pPr algn="just">
              <a:lnSpc>
                <a:spcPts val="4900"/>
              </a:lnSpc>
              <a:spcBef>
                <a:spcPct val="0"/>
              </a:spcBef>
            </a:pPr>
            <a:r>
              <a:rPr lang="en-US" sz="3500">
                <a:solidFill>
                  <a:srgbClr val="2F6359"/>
                </a:solidFill>
                <a:latin typeface="Agrandir"/>
                <a:ea typeface="Agrandir"/>
                <a:cs typeface="Agrandir"/>
                <a:sym typeface="Agrandir"/>
              </a:rPr>
              <a:t>Se realizaron uniones entre tablas para obtener insights clave del negocio.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0700055" y="804910"/>
            <a:ext cx="7587945" cy="6707309"/>
          </a:xfrm>
          <a:custGeom>
            <a:avLst/>
            <a:gdLst/>
            <a:ahLst/>
            <a:cxnLst/>
            <a:rect l="l" t="t" r="r" b="b"/>
            <a:pathLst>
              <a:path w="7587945" h="6707309">
                <a:moveTo>
                  <a:pt x="0" y="0"/>
                </a:moveTo>
                <a:lnTo>
                  <a:pt x="7587945" y="0"/>
                </a:lnTo>
                <a:lnTo>
                  <a:pt x="7587945" y="6707309"/>
                </a:lnTo>
                <a:lnTo>
                  <a:pt x="0" y="6707309"/>
                </a:lnTo>
                <a:lnTo>
                  <a:pt x="0" y="0"/>
                </a:lnTo>
                <a:close/>
              </a:path>
            </a:pathLst>
          </a:custGeom>
          <a:blipFill>
            <a:blip r:embed="rId3"/>
            <a:stretch>
              <a:fillRect/>
            </a:stretch>
          </a:blipFill>
        </p:spPr>
        <p:txBody>
          <a:bodyPr/>
          <a:lstStyle/>
          <a:p>
            <a:endParaRPr lang="en-US"/>
          </a:p>
        </p:txBody>
      </p:sp>
      <p:sp>
        <p:nvSpPr>
          <p:cNvPr id="4" name="TextBox 4"/>
          <p:cNvSpPr txBox="1"/>
          <p:nvPr/>
        </p:nvSpPr>
        <p:spPr>
          <a:xfrm rot="-5400000">
            <a:off x="-3829839" y="4248150"/>
            <a:ext cx="9994345" cy="1790700"/>
          </a:xfrm>
          <a:prstGeom prst="rect">
            <a:avLst/>
          </a:prstGeom>
        </p:spPr>
        <p:txBody>
          <a:bodyPr lIns="0" tIns="0" rIns="0" bIns="0" rtlCol="0" anchor="t">
            <a:spAutoFit/>
          </a:bodyPr>
          <a:lstStyle/>
          <a:p>
            <a:pPr algn="l">
              <a:lnSpc>
                <a:spcPts val="12599"/>
              </a:lnSpc>
              <a:spcBef>
                <a:spcPct val="0"/>
              </a:spcBef>
            </a:pPr>
            <a:r>
              <a:rPr lang="en-US" sz="9000"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CONSULTAS SQL</a:t>
            </a:r>
          </a:p>
        </p:txBody>
      </p:sp>
      <p:sp>
        <p:nvSpPr>
          <p:cNvPr id="5" name="Freeform 5"/>
          <p:cNvSpPr/>
          <p:nvPr/>
        </p:nvSpPr>
        <p:spPr>
          <a:xfrm>
            <a:off x="2062684" y="804910"/>
            <a:ext cx="8327008" cy="6268387"/>
          </a:xfrm>
          <a:custGeom>
            <a:avLst/>
            <a:gdLst/>
            <a:ahLst/>
            <a:cxnLst/>
            <a:rect l="l" t="t" r="r" b="b"/>
            <a:pathLst>
              <a:path w="8327008" h="6268387">
                <a:moveTo>
                  <a:pt x="0" y="0"/>
                </a:moveTo>
                <a:lnTo>
                  <a:pt x="8327008" y="0"/>
                </a:lnTo>
                <a:lnTo>
                  <a:pt x="8327008" y="6268386"/>
                </a:lnTo>
                <a:lnTo>
                  <a:pt x="0" y="6268386"/>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1614428" y="7937500"/>
            <a:ext cx="15946638" cy="1320800"/>
          </a:xfrm>
          <a:prstGeom prst="rect">
            <a:avLst/>
          </a:prstGeom>
        </p:spPr>
        <p:txBody>
          <a:bodyPr lIns="0" tIns="0" rIns="0" bIns="0" rtlCol="0" anchor="t">
            <a:spAutoFit/>
          </a:bodyPr>
          <a:lstStyle/>
          <a:p>
            <a:pPr algn="ctr">
              <a:lnSpc>
                <a:spcPts val="4900"/>
              </a:lnSpc>
              <a:spcBef>
                <a:spcPct val="0"/>
              </a:spcBef>
            </a:pPr>
            <a:r>
              <a:rPr lang="en-US" sz="3500">
                <a:solidFill>
                  <a:srgbClr val="091713"/>
                </a:solidFill>
                <a:latin typeface="Agrandir"/>
                <a:ea typeface="Agrandir"/>
                <a:cs typeface="Agrandir"/>
                <a:sym typeface="Agrandir"/>
              </a:rPr>
              <a:t>Las consultas permitieron consolidar la información y obtener métricas clave como ventas por categoría, región y segmento.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899092" y="0"/>
            <a:ext cx="2388908" cy="2388908"/>
          </a:xfrm>
          <a:custGeom>
            <a:avLst/>
            <a:gdLst/>
            <a:ahLst/>
            <a:cxnLst/>
            <a:rect l="l" t="t" r="r" b="b"/>
            <a:pathLst>
              <a:path w="2388908" h="2388908">
                <a:moveTo>
                  <a:pt x="0" y="0"/>
                </a:moveTo>
                <a:lnTo>
                  <a:pt x="2388908" y="0"/>
                </a:lnTo>
                <a:lnTo>
                  <a:pt x="2388908" y="2388908"/>
                </a:lnTo>
                <a:lnTo>
                  <a:pt x="0" y="2388908"/>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a:off x="1028700" y="2388908"/>
            <a:ext cx="6328561" cy="4420122"/>
          </a:xfrm>
          <a:custGeom>
            <a:avLst/>
            <a:gdLst/>
            <a:ahLst/>
            <a:cxnLst/>
            <a:rect l="l" t="t" r="r" b="b"/>
            <a:pathLst>
              <a:path w="6328561" h="4420122">
                <a:moveTo>
                  <a:pt x="0" y="0"/>
                </a:moveTo>
                <a:lnTo>
                  <a:pt x="6328561" y="0"/>
                </a:lnTo>
                <a:lnTo>
                  <a:pt x="6328561" y="4420122"/>
                </a:lnTo>
                <a:lnTo>
                  <a:pt x="0" y="4420122"/>
                </a:lnTo>
                <a:lnTo>
                  <a:pt x="0" y="0"/>
                </a:lnTo>
                <a:close/>
              </a:path>
            </a:pathLst>
          </a:custGeom>
          <a:blipFill>
            <a:blip r:embed="rId4"/>
            <a:stretch>
              <a:fillRect/>
            </a:stretch>
          </a:blipFill>
        </p:spPr>
        <p:txBody>
          <a:bodyPr/>
          <a:lstStyle/>
          <a:p>
            <a:endParaRPr lang="en-US"/>
          </a:p>
        </p:txBody>
      </p:sp>
      <p:sp>
        <p:nvSpPr>
          <p:cNvPr id="5" name="Freeform 5"/>
          <p:cNvSpPr/>
          <p:nvPr/>
        </p:nvSpPr>
        <p:spPr>
          <a:xfrm>
            <a:off x="8299066" y="2388908"/>
            <a:ext cx="6958836" cy="4424279"/>
          </a:xfrm>
          <a:custGeom>
            <a:avLst/>
            <a:gdLst/>
            <a:ahLst/>
            <a:cxnLst/>
            <a:rect l="l" t="t" r="r" b="b"/>
            <a:pathLst>
              <a:path w="6958836" h="4424279">
                <a:moveTo>
                  <a:pt x="0" y="0"/>
                </a:moveTo>
                <a:lnTo>
                  <a:pt x="6958837" y="0"/>
                </a:lnTo>
                <a:lnTo>
                  <a:pt x="6958837" y="4424280"/>
                </a:lnTo>
                <a:lnTo>
                  <a:pt x="0" y="442428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028700" y="1389070"/>
            <a:ext cx="14540733" cy="862330"/>
          </a:xfrm>
          <a:prstGeom prst="rect">
            <a:avLst/>
          </a:prstGeom>
        </p:spPr>
        <p:txBody>
          <a:bodyPr lIns="0" tIns="0" rIns="0" bIns="0" rtlCol="0" anchor="t">
            <a:spAutoFit/>
          </a:bodyPr>
          <a:lstStyle/>
          <a:p>
            <a:pPr algn="just">
              <a:lnSpc>
                <a:spcPts val="6019"/>
              </a:lnSpc>
              <a:spcBef>
                <a:spcPct val="0"/>
              </a:spcBef>
            </a:pPr>
            <a:r>
              <a:rPr lang="en-US" sz="4299"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Se aseguró la calidad de los datos antes del análisis.</a:t>
            </a:r>
          </a:p>
        </p:txBody>
      </p:sp>
      <p:sp>
        <p:nvSpPr>
          <p:cNvPr id="7" name="TextBox 7"/>
          <p:cNvSpPr txBox="1"/>
          <p:nvPr/>
        </p:nvSpPr>
        <p:spPr>
          <a:xfrm>
            <a:off x="1974050" y="311814"/>
            <a:ext cx="12268975" cy="1157548"/>
          </a:xfrm>
          <a:prstGeom prst="rect">
            <a:avLst/>
          </a:prstGeom>
        </p:spPr>
        <p:txBody>
          <a:bodyPr lIns="0" tIns="0" rIns="0" bIns="0" rtlCol="0" anchor="t">
            <a:spAutoFit/>
          </a:bodyPr>
          <a:lstStyle/>
          <a:p>
            <a:pPr algn="l">
              <a:lnSpc>
                <a:spcPts val="8108"/>
              </a:lnSpc>
              <a:spcBef>
                <a:spcPct val="0"/>
              </a:spcBef>
            </a:pPr>
            <a:r>
              <a:rPr lang="en-US" sz="5791" b="1">
                <a:solidFill>
                  <a:srgbClr val="1C4439"/>
                </a:solidFill>
                <a:latin typeface="Agrandir Bold"/>
                <a:ea typeface="Agrandir Bold"/>
                <a:cs typeface="Agrandir Bold"/>
                <a:sym typeface="Agrandir Bold"/>
              </a:rPr>
              <a:t>Limpieza y preparación de datos</a:t>
            </a:r>
          </a:p>
        </p:txBody>
      </p:sp>
      <p:sp>
        <p:nvSpPr>
          <p:cNvPr id="8" name="TextBox 8"/>
          <p:cNvSpPr txBox="1"/>
          <p:nvPr/>
        </p:nvSpPr>
        <p:spPr>
          <a:xfrm>
            <a:off x="12111859" y="7097896"/>
            <a:ext cx="4930058" cy="2733675"/>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Agrandir"/>
                <a:ea typeface="Agrandir"/>
                <a:cs typeface="Agrandir"/>
                <a:sym typeface="Agrandir"/>
              </a:rPr>
              <a:t>Se eliminaron valores nulos, duplicados y se estandarizaron formatos para asegurar la calidad de los datos antes del análisis.</a:t>
            </a:r>
          </a:p>
        </p:txBody>
      </p:sp>
      <p:sp>
        <p:nvSpPr>
          <p:cNvPr id="9" name="Freeform 9"/>
          <p:cNvSpPr/>
          <p:nvPr/>
        </p:nvSpPr>
        <p:spPr>
          <a:xfrm>
            <a:off x="1028700" y="6946538"/>
            <a:ext cx="10749784" cy="3179266"/>
          </a:xfrm>
          <a:custGeom>
            <a:avLst/>
            <a:gdLst/>
            <a:ahLst/>
            <a:cxnLst/>
            <a:rect l="l" t="t" r="r" b="b"/>
            <a:pathLst>
              <a:path w="10749784" h="3179266">
                <a:moveTo>
                  <a:pt x="0" y="0"/>
                </a:moveTo>
                <a:lnTo>
                  <a:pt x="10749784" y="0"/>
                </a:lnTo>
                <a:lnTo>
                  <a:pt x="10749784" y="3179266"/>
                </a:lnTo>
                <a:lnTo>
                  <a:pt x="0" y="3179266"/>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10800000" flipH="1">
            <a:off x="-821531" y="9258300"/>
            <a:ext cx="19931061" cy="11221603"/>
          </a:xfrm>
          <a:custGeom>
            <a:avLst/>
            <a:gdLst/>
            <a:ahLst/>
            <a:cxnLst/>
            <a:rect l="l" t="t" r="r" b="b"/>
            <a:pathLst>
              <a:path w="19931061" h="11221603">
                <a:moveTo>
                  <a:pt x="19931062" y="0"/>
                </a:moveTo>
                <a:lnTo>
                  <a:pt x="0" y="0"/>
                </a:lnTo>
                <a:lnTo>
                  <a:pt x="0" y="11221603"/>
                </a:lnTo>
                <a:lnTo>
                  <a:pt x="19931062" y="11221603"/>
                </a:lnTo>
                <a:lnTo>
                  <a:pt x="19931062" y="0"/>
                </a:lnTo>
                <a:close/>
              </a:path>
            </a:pathLst>
          </a:custGeom>
          <a:blipFill>
            <a:blip>
              <a:extLst>
                <a:ext uri="{96DAC541-7B7A-43D3-8B79-37D633B846F1}">
                  <asvg:svgBlip xmlns:asvg="http://schemas.microsoft.com/office/drawing/2016/SVG/main" r:embed="rId2"/>
                </a:ext>
              </a:extLst>
            </a:blip>
            <a:stretch>
              <a:fillRect t="-18128" r="-18128"/>
            </a:stretch>
          </a:blipFill>
        </p:spPr>
        <p:txBody>
          <a:bodyPr/>
          <a:lstStyle/>
          <a:p>
            <a:endParaRPr lang="en-US"/>
          </a:p>
        </p:txBody>
      </p:sp>
      <p:sp>
        <p:nvSpPr>
          <p:cNvPr id="3" name="Freeform 3"/>
          <p:cNvSpPr/>
          <p:nvPr/>
        </p:nvSpPr>
        <p:spPr>
          <a:xfrm>
            <a:off x="14244848" y="380196"/>
            <a:ext cx="751797" cy="751797"/>
          </a:xfrm>
          <a:custGeom>
            <a:avLst/>
            <a:gdLst/>
            <a:ahLst/>
            <a:cxnLst/>
            <a:rect l="l" t="t" r="r" b="b"/>
            <a:pathLst>
              <a:path w="751797" h="751797">
                <a:moveTo>
                  <a:pt x="0" y="0"/>
                </a:moveTo>
                <a:lnTo>
                  <a:pt x="751797" y="0"/>
                </a:lnTo>
                <a:lnTo>
                  <a:pt x="751797" y="751797"/>
                </a:lnTo>
                <a:lnTo>
                  <a:pt x="0" y="75179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a:off x="3291355" y="380196"/>
            <a:ext cx="751797" cy="751797"/>
          </a:xfrm>
          <a:custGeom>
            <a:avLst/>
            <a:gdLst/>
            <a:ahLst/>
            <a:cxnLst/>
            <a:rect l="l" t="t" r="r" b="b"/>
            <a:pathLst>
              <a:path w="751797" h="751797">
                <a:moveTo>
                  <a:pt x="0" y="0"/>
                </a:moveTo>
                <a:lnTo>
                  <a:pt x="751797" y="0"/>
                </a:lnTo>
                <a:lnTo>
                  <a:pt x="751797" y="751797"/>
                </a:lnTo>
                <a:lnTo>
                  <a:pt x="0" y="75179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Freeform 5"/>
          <p:cNvSpPr/>
          <p:nvPr/>
        </p:nvSpPr>
        <p:spPr>
          <a:xfrm>
            <a:off x="266852" y="2511682"/>
            <a:ext cx="8063303" cy="2447184"/>
          </a:xfrm>
          <a:custGeom>
            <a:avLst/>
            <a:gdLst/>
            <a:ahLst/>
            <a:cxnLst/>
            <a:rect l="l" t="t" r="r" b="b"/>
            <a:pathLst>
              <a:path w="8063303" h="2447184">
                <a:moveTo>
                  <a:pt x="0" y="0"/>
                </a:moveTo>
                <a:lnTo>
                  <a:pt x="8063303" y="0"/>
                </a:lnTo>
                <a:lnTo>
                  <a:pt x="8063303" y="2447184"/>
                </a:lnTo>
                <a:lnTo>
                  <a:pt x="0" y="2447184"/>
                </a:lnTo>
                <a:lnTo>
                  <a:pt x="0" y="0"/>
                </a:lnTo>
                <a:close/>
              </a:path>
            </a:pathLst>
          </a:custGeom>
          <a:blipFill>
            <a:blip r:embed="rId4"/>
            <a:stretch>
              <a:fillRect/>
            </a:stretch>
          </a:blipFill>
        </p:spPr>
        <p:txBody>
          <a:bodyPr/>
          <a:lstStyle/>
          <a:p>
            <a:endParaRPr lang="en-US"/>
          </a:p>
        </p:txBody>
      </p:sp>
      <p:sp>
        <p:nvSpPr>
          <p:cNvPr id="6" name="Freeform 6"/>
          <p:cNvSpPr/>
          <p:nvPr/>
        </p:nvSpPr>
        <p:spPr>
          <a:xfrm>
            <a:off x="687871" y="4958866"/>
            <a:ext cx="7642285" cy="4930075"/>
          </a:xfrm>
          <a:custGeom>
            <a:avLst/>
            <a:gdLst/>
            <a:ahLst/>
            <a:cxnLst/>
            <a:rect l="l" t="t" r="r" b="b"/>
            <a:pathLst>
              <a:path w="7642285" h="4930075">
                <a:moveTo>
                  <a:pt x="0" y="0"/>
                </a:moveTo>
                <a:lnTo>
                  <a:pt x="7642284" y="0"/>
                </a:lnTo>
                <a:lnTo>
                  <a:pt x="7642284" y="4930076"/>
                </a:lnTo>
                <a:lnTo>
                  <a:pt x="0" y="4930076"/>
                </a:lnTo>
                <a:lnTo>
                  <a:pt x="0" y="0"/>
                </a:lnTo>
                <a:close/>
              </a:path>
            </a:pathLst>
          </a:custGeom>
          <a:blipFill>
            <a:blip r:embed="rId5"/>
            <a:stretch>
              <a:fillRect/>
            </a:stretch>
          </a:blipFill>
        </p:spPr>
        <p:txBody>
          <a:bodyPr/>
          <a:lstStyle/>
          <a:p>
            <a:endParaRPr lang="en-US"/>
          </a:p>
        </p:txBody>
      </p:sp>
      <p:sp>
        <p:nvSpPr>
          <p:cNvPr id="7" name="Freeform 7"/>
          <p:cNvSpPr/>
          <p:nvPr/>
        </p:nvSpPr>
        <p:spPr>
          <a:xfrm>
            <a:off x="8613583" y="2658422"/>
            <a:ext cx="9323350" cy="5517342"/>
          </a:xfrm>
          <a:custGeom>
            <a:avLst/>
            <a:gdLst/>
            <a:ahLst/>
            <a:cxnLst/>
            <a:rect l="l" t="t" r="r" b="b"/>
            <a:pathLst>
              <a:path w="9323350" h="5517342">
                <a:moveTo>
                  <a:pt x="0" y="0"/>
                </a:moveTo>
                <a:lnTo>
                  <a:pt x="9323351" y="0"/>
                </a:lnTo>
                <a:lnTo>
                  <a:pt x="9323351" y="5517342"/>
                </a:lnTo>
                <a:lnTo>
                  <a:pt x="0" y="5517342"/>
                </a:lnTo>
                <a:lnTo>
                  <a:pt x="0" y="0"/>
                </a:lnTo>
                <a:close/>
              </a:path>
            </a:pathLst>
          </a:custGeom>
          <a:blipFill>
            <a:blip r:embed="rId6"/>
            <a:stretch>
              <a:fillRect/>
            </a:stretch>
          </a:blipFill>
        </p:spPr>
        <p:txBody>
          <a:bodyPr/>
          <a:lstStyle/>
          <a:p>
            <a:endParaRPr lang="en-US"/>
          </a:p>
        </p:txBody>
      </p:sp>
      <p:sp>
        <p:nvSpPr>
          <p:cNvPr id="8" name="TextBox 8"/>
          <p:cNvSpPr txBox="1"/>
          <p:nvPr/>
        </p:nvSpPr>
        <p:spPr>
          <a:xfrm>
            <a:off x="4162571" y="-5277"/>
            <a:ext cx="9958452" cy="1227468"/>
          </a:xfrm>
          <a:prstGeom prst="rect">
            <a:avLst/>
          </a:prstGeom>
        </p:spPr>
        <p:txBody>
          <a:bodyPr lIns="0" tIns="0" rIns="0" bIns="0" rtlCol="0" anchor="t">
            <a:spAutoFit/>
          </a:bodyPr>
          <a:lstStyle/>
          <a:p>
            <a:pPr algn="ctr">
              <a:lnSpc>
                <a:spcPts val="8573"/>
              </a:lnSpc>
              <a:spcBef>
                <a:spcPct val="0"/>
              </a:spcBef>
            </a:pPr>
            <a:r>
              <a:rPr lang="en-US" sz="6123" b="1">
                <a:solidFill>
                  <a:srgbClr val="1C4439"/>
                </a:solidFill>
                <a:latin typeface="Agrandir Bold"/>
                <a:ea typeface="Agrandir Bold"/>
                <a:cs typeface="Agrandir Bold"/>
                <a:sym typeface="Agrandir Bold"/>
              </a:rPr>
              <a:t>Transformación de datos</a:t>
            </a:r>
          </a:p>
        </p:txBody>
      </p:sp>
      <p:sp>
        <p:nvSpPr>
          <p:cNvPr id="9" name="TextBox 9"/>
          <p:cNvSpPr txBox="1"/>
          <p:nvPr/>
        </p:nvSpPr>
        <p:spPr>
          <a:xfrm>
            <a:off x="1395848" y="1301151"/>
            <a:ext cx="15491898" cy="1007745"/>
          </a:xfrm>
          <a:prstGeom prst="rect">
            <a:avLst/>
          </a:prstGeom>
        </p:spPr>
        <p:txBody>
          <a:bodyPr lIns="0" tIns="0" rIns="0" bIns="0" rtlCol="0" anchor="t">
            <a:spAutoFit/>
          </a:bodyPr>
          <a:lstStyle/>
          <a:p>
            <a:pPr algn="l">
              <a:lnSpc>
                <a:spcPts val="3779"/>
              </a:lnSpc>
            </a:pPr>
            <a:r>
              <a:rPr lang="en-US" sz="2699">
                <a:solidFill>
                  <a:srgbClr val="000000"/>
                </a:solidFill>
                <a:latin typeface="Agrandir"/>
                <a:ea typeface="Agrandir"/>
                <a:cs typeface="Agrandir"/>
                <a:sym typeface="Agrandir"/>
              </a:rPr>
              <a:t>Se crearon nuevas variables y se prepararon los datos para facilitar el análisis y la modelación.</a:t>
            </a:r>
          </a:p>
          <a:p>
            <a:pPr algn="l">
              <a:lnSpc>
                <a:spcPts val="3779"/>
              </a:lnSpc>
              <a:spcBef>
                <a:spcPct val="0"/>
              </a:spcBef>
            </a:pPr>
            <a:r>
              <a:rPr lang="en-US" sz="2699">
                <a:solidFill>
                  <a:srgbClr val="000000"/>
                </a:solidFill>
                <a:latin typeface="Agrandir"/>
                <a:ea typeface="Agrandir"/>
                <a:cs typeface="Agrandir"/>
                <a:sym typeface="Agrandir"/>
              </a:rPr>
              <a:t>Las transformaciones permitieron preparar los datos para análisis más avanzados.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10800000" flipH="1">
            <a:off x="-821531" y="9258300"/>
            <a:ext cx="19931061" cy="11221603"/>
          </a:xfrm>
          <a:custGeom>
            <a:avLst/>
            <a:gdLst/>
            <a:ahLst/>
            <a:cxnLst/>
            <a:rect l="l" t="t" r="r" b="b"/>
            <a:pathLst>
              <a:path w="19931061" h="11221603">
                <a:moveTo>
                  <a:pt x="19931062" y="0"/>
                </a:moveTo>
                <a:lnTo>
                  <a:pt x="0" y="0"/>
                </a:lnTo>
                <a:lnTo>
                  <a:pt x="0" y="11221603"/>
                </a:lnTo>
                <a:lnTo>
                  <a:pt x="19931062" y="11221603"/>
                </a:lnTo>
                <a:lnTo>
                  <a:pt x="19931062" y="0"/>
                </a:lnTo>
                <a:close/>
              </a:path>
            </a:pathLst>
          </a:custGeom>
          <a:blipFill>
            <a:blip>
              <a:extLst>
                <a:ext uri="{96DAC541-7B7A-43D3-8B79-37D633B846F1}">
                  <asvg:svgBlip xmlns:asvg="http://schemas.microsoft.com/office/drawing/2016/SVG/main" r:embed="rId2"/>
                </a:ext>
              </a:extLst>
            </a:blip>
            <a:stretch>
              <a:fillRect t="-18128" r="-18128"/>
            </a:stretch>
          </a:blipFill>
        </p:spPr>
        <p:txBody>
          <a:bodyPr/>
          <a:lstStyle/>
          <a:p>
            <a:endParaRPr lang="en-US"/>
          </a:p>
        </p:txBody>
      </p:sp>
      <p:sp>
        <p:nvSpPr>
          <p:cNvPr id="3" name="Freeform 3"/>
          <p:cNvSpPr/>
          <p:nvPr/>
        </p:nvSpPr>
        <p:spPr>
          <a:xfrm>
            <a:off x="429043" y="2469449"/>
            <a:ext cx="8115300" cy="2982373"/>
          </a:xfrm>
          <a:custGeom>
            <a:avLst/>
            <a:gdLst/>
            <a:ahLst/>
            <a:cxnLst/>
            <a:rect l="l" t="t" r="r" b="b"/>
            <a:pathLst>
              <a:path w="8115300" h="2982373">
                <a:moveTo>
                  <a:pt x="0" y="0"/>
                </a:moveTo>
                <a:lnTo>
                  <a:pt x="8115300" y="0"/>
                </a:lnTo>
                <a:lnTo>
                  <a:pt x="8115300" y="2982372"/>
                </a:lnTo>
                <a:lnTo>
                  <a:pt x="0" y="2982372"/>
                </a:lnTo>
                <a:lnTo>
                  <a:pt x="0" y="0"/>
                </a:lnTo>
                <a:close/>
              </a:path>
            </a:pathLst>
          </a:custGeom>
          <a:blipFill>
            <a:blip r:embed="rId3"/>
            <a:stretch>
              <a:fillRect/>
            </a:stretch>
          </a:blipFill>
        </p:spPr>
        <p:txBody>
          <a:bodyPr/>
          <a:lstStyle/>
          <a:p>
            <a:endParaRPr lang="en-US"/>
          </a:p>
        </p:txBody>
      </p:sp>
      <p:sp>
        <p:nvSpPr>
          <p:cNvPr id="4" name="Freeform 4"/>
          <p:cNvSpPr/>
          <p:nvPr/>
        </p:nvSpPr>
        <p:spPr>
          <a:xfrm>
            <a:off x="9271955" y="2469449"/>
            <a:ext cx="8842912" cy="3072912"/>
          </a:xfrm>
          <a:custGeom>
            <a:avLst/>
            <a:gdLst/>
            <a:ahLst/>
            <a:cxnLst/>
            <a:rect l="l" t="t" r="r" b="b"/>
            <a:pathLst>
              <a:path w="8842912" h="3072912">
                <a:moveTo>
                  <a:pt x="0" y="0"/>
                </a:moveTo>
                <a:lnTo>
                  <a:pt x="8842912" y="0"/>
                </a:lnTo>
                <a:lnTo>
                  <a:pt x="8842912" y="3072912"/>
                </a:lnTo>
                <a:lnTo>
                  <a:pt x="0" y="3072912"/>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3734818" y="-55562"/>
            <a:ext cx="10818364" cy="1301750"/>
          </a:xfrm>
          <a:prstGeom prst="rect">
            <a:avLst/>
          </a:prstGeom>
        </p:spPr>
        <p:txBody>
          <a:bodyPr lIns="0" tIns="0" rIns="0" bIns="0" rtlCol="0" anchor="t">
            <a:spAutoFit/>
          </a:bodyPr>
          <a:lstStyle/>
          <a:p>
            <a:pPr algn="l">
              <a:lnSpc>
                <a:spcPts val="9100"/>
              </a:lnSpc>
              <a:spcBef>
                <a:spcPct val="0"/>
              </a:spcBef>
            </a:pPr>
            <a:r>
              <a:rPr lang="en-US" sz="6500"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Análisis Exploratorio (EDA)</a:t>
            </a:r>
          </a:p>
        </p:txBody>
      </p:sp>
      <p:sp>
        <p:nvSpPr>
          <p:cNvPr id="6" name="TextBox 6"/>
          <p:cNvSpPr txBox="1"/>
          <p:nvPr/>
        </p:nvSpPr>
        <p:spPr>
          <a:xfrm>
            <a:off x="1028700" y="1103312"/>
            <a:ext cx="16230600" cy="1133475"/>
          </a:xfrm>
          <a:prstGeom prst="rect">
            <a:avLst/>
          </a:prstGeom>
        </p:spPr>
        <p:txBody>
          <a:bodyPr lIns="0" tIns="0" rIns="0" bIns="0" rtlCol="0" anchor="t">
            <a:spAutoFit/>
          </a:bodyPr>
          <a:lstStyle/>
          <a:p>
            <a:pPr algn="just">
              <a:lnSpc>
                <a:spcPts val="4200"/>
              </a:lnSpc>
              <a:spcBef>
                <a:spcPct val="0"/>
              </a:spcBef>
            </a:pPr>
            <a:r>
              <a:rPr lang="en-US" sz="3000" b="1">
                <a:solidFill>
                  <a:srgbClr val="3DA497"/>
                </a:solidFill>
                <a:latin typeface="Agrandir Bold"/>
                <a:ea typeface="Agrandir Bold"/>
                <a:cs typeface="Agrandir Bold"/>
                <a:sym typeface="Agrandir Bold"/>
              </a:rPr>
              <a:t>Se identificaron patrones en la distribución de ventas, así como posibles outliers y tendencias en el tiempo.</a:t>
            </a:r>
          </a:p>
        </p:txBody>
      </p:sp>
      <p:sp>
        <p:nvSpPr>
          <p:cNvPr id="7" name="Freeform 7"/>
          <p:cNvSpPr/>
          <p:nvPr/>
        </p:nvSpPr>
        <p:spPr>
          <a:xfrm>
            <a:off x="173133" y="6403440"/>
            <a:ext cx="8405298" cy="2900148"/>
          </a:xfrm>
          <a:custGeom>
            <a:avLst/>
            <a:gdLst/>
            <a:ahLst/>
            <a:cxnLst/>
            <a:rect l="l" t="t" r="r" b="b"/>
            <a:pathLst>
              <a:path w="8405298" h="2900148">
                <a:moveTo>
                  <a:pt x="0" y="0"/>
                </a:moveTo>
                <a:lnTo>
                  <a:pt x="8405298" y="0"/>
                </a:lnTo>
                <a:lnTo>
                  <a:pt x="8405298" y="2900149"/>
                </a:lnTo>
                <a:lnTo>
                  <a:pt x="0" y="2900149"/>
                </a:lnTo>
                <a:lnTo>
                  <a:pt x="0" y="0"/>
                </a:lnTo>
                <a:close/>
              </a:path>
            </a:pathLst>
          </a:custGeom>
          <a:blipFill>
            <a:blip r:embed="rId5"/>
            <a:stretch>
              <a:fillRect r="-4557"/>
            </a:stretch>
          </a:blipFill>
        </p:spPr>
        <p:txBody>
          <a:bodyPr/>
          <a:lstStyle/>
          <a:p>
            <a:endParaRPr lang="en-US"/>
          </a:p>
        </p:txBody>
      </p:sp>
      <p:sp>
        <p:nvSpPr>
          <p:cNvPr id="8" name="Freeform 8"/>
          <p:cNvSpPr/>
          <p:nvPr/>
        </p:nvSpPr>
        <p:spPr>
          <a:xfrm>
            <a:off x="8961461" y="6403440"/>
            <a:ext cx="9153406" cy="3260901"/>
          </a:xfrm>
          <a:custGeom>
            <a:avLst/>
            <a:gdLst/>
            <a:ahLst/>
            <a:cxnLst/>
            <a:rect l="l" t="t" r="r" b="b"/>
            <a:pathLst>
              <a:path w="9153406" h="3260901">
                <a:moveTo>
                  <a:pt x="0" y="0"/>
                </a:moveTo>
                <a:lnTo>
                  <a:pt x="9153406" y="0"/>
                </a:lnTo>
                <a:lnTo>
                  <a:pt x="9153406" y="3260901"/>
                </a:lnTo>
                <a:lnTo>
                  <a:pt x="0" y="3260901"/>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10800000" flipH="1">
            <a:off x="-821531" y="9258300"/>
            <a:ext cx="19931061" cy="11221603"/>
          </a:xfrm>
          <a:custGeom>
            <a:avLst/>
            <a:gdLst/>
            <a:ahLst/>
            <a:cxnLst/>
            <a:rect l="l" t="t" r="r" b="b"/>
            <a:pathLst>
              <a:path w="19931061" h="11221603">
                <a:moveTo>
                  <a:pt x="19931062" y="0"/>
                </a:moveTo>
                <a:lnTo>
                  <a:pt x="0" y="0"/>
                </a:lnTo>
                <a:lnTo>
                  <a:pt x="0" y="11221603"/>
                </a:lnTo>
                <a:lnTo>
                  <a:pt x="19931062" y="11221603"/>
                </a:lnTo>
                <a:lnTo>
                  <a:pt x="19931062" y="0"/>
                </a:lnTo>
                <a:close/>
              </a:path>
            </a:pathLst>
          </a:custGeom>
          <a:blipFill>
            <a:blip>
              <a:extLst>
                <a:ext uri="{96DAC541-7B7A-43D3-8B79-37D633B846F1}">
                  <asvg:svgBlip xmlns:asvg="http://schemas.microsoft.com/office/drawing/2016/SVG/main" r:embed="rId2"/>
                </a:ext>
              </a:extLst>
            </a:blip>
            <a:stretch>
              <a:fillRect t="-18128" r="-18128"/>
            </a:stretch>
          </a:blipFill>
        </p:spPr>
        <p:txBody>
          <a:bodyPr/>
          <a:lstStyle/>
          <a:p>
            <a:endParaRPr lang="en-US"/>
          </a:p>
        </p:txBody>
      </p:sp>
      <p:sp>
        <p:nvSpPr>
          <p:cNvPr id="3" name="Freeform 3"/>
          <p:cNvSpPr/>
          <p:nvPr/>
        </p:nvSpPr>
        <p:spPr>
          <a:xfrm>
            <a:off x="1028700" y="2516769"/>
            <a:ext cx="7544000" cy="5562214"/>
          </a:xfrm>
          <a:custGeom>
            <a:avLst/>
            <a:gdLst/>
            <a:ahLst/>
            <a:cxnLst/>
            <a:rect l="l" t="t" r="r" b="b"/>
            <a:pathLst>
              <a:path w="7544000" h="5562214">
                <a:moveTo>
                  <a:pt x="0" y="0"/>
                </a:moveTo>
                <a:lnTo>
                  <a:pt x="7544000" y="0"/>
                </a:lnTo>
                <a:lnTo>
                  <a:pt x="7544000" y="5562214"/>
                </a:lnTo>
                <a:lnTo>
                  <a:pt x="0" y="5562214"/>
                </a:lnTo>
                <a:lnTo>
                  <a:pt x="0" y="0"/>
                </a:lnTo>
                <a:close/>
              </a:path>
            </a:pathLst>
          </a:custGeom>
          <a:blipFill>
            <a:blip r:embed="rId3"/>
            <a:stretch>
              <a:fillRect/>
            </a:stretch>
          </a:blipFill>
        </p:spPr>
        <p:txBody>
          <a:bodyPr/>
          <a:lstStyle/>
          <a:p>
            <a:endParaRPr lang="en-US"/>
          </a:p>
        </p:txBody>
      </p:sp>
      <p:sp>
        <p:nvSpPr>
          <p:cNvPr id="4" name="Freeform 4"/>
          <p:cNvSpPr/>
          <p:nvPr/>
        </p:nvSpPr>
        <p:spPr>
          <a:xfrm>
            <a:off x="10157766" y="2288051"/>
            <a:ext cx="7101534" cy="5599039"/>
          </a:xfrm>
          <a:custGeom>
            <a:avLst/>
            <a:gdLst/>
            <a:ahLst/>
            <a:cxnLst/>
            <a:rect l="l" t="t" r="r" b="b"/>
            <a:pathLst>
              <a:path w="7101534" h="5599039">
                <a:moveTo>
                  <a:pt x="0" y="0"/>
                </a:moveTo>
                <a:lnTo>
                  <a:pt x="7101534" y="0"/>
                </a:lnTo>
                <a:lnTo>
                  <a:pt x="7101534" y="5599040"/>
                </a:lnTo>
                <a:lnTo>
                  <a:pt x="0" y="5599040"/>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6439409" y="-55562"/>
            <a:ext cx="5409182" cy="1301750"/>
          </a:xfrm>
          <a:prstGeom prst="rect">
            <a:avLst/>
          </a:prstGeom>
        </p:spPr>
        <p:txBody>
          <a:bodyPr lIns="0" tIns="0" rIns="0" bIns="0" rtlCol="0" anchor="t">
            <a:spAutoFit/>
          </a:bodyPr>
          <a:lstStyle/>
          <a:p>
            <a:pPr algn="l">
              <a:lnSpc>
                <a:spcPts val="9100"/>
              </a:lnSpc>
              <a:spcBef>
                <a:spcPct val="0"/>
              </a:spcBef>
            </a:pPr>
            <a:r>
              <a:rPr lang="en-US" sz="6500"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Dashboard</a:t>
            </a:r>
          </a:p>
        </p:txBody>
      </p:sp>
      <p:sp>
        <p:nvSpPr>
          <p:cNvPr id="6" name="TextBox 6"/>
          <p:cNvSpPr txBox="1"/>
          <p:nvPr/>
        </p:nvSpPr>
        <p:spPr>
          <a:xfrm>
            <a:off x="1028700" y="1103312"/>
            <a:ext cx="16230600" cy="1133475"/>
          </a:xfrm>
          <a:prstGeom prst="rect">
            <a:avLst/>
          </a:prstGeom>
        </p:spPr>
        <p:txBody>
          <a:bodyPr lIns="0" tIns="0" rIns="0" bIns="0" rtlCol="0" anchor="t">
            <a:spAutoFit/>
          </a:bodyPr>
          <a:lstStyle/>
          <a:p>
            <a:pPr algn="just">
              <a:lnSpc>
                <a:spcPts val="4200"/>
              </a:lnSpc>
              <a:spcBef>
                <a:spcPct val="0"/>
              </a:spcBef>
            </a:pPr>
            <a:r>
              <a:rPr lang="en-US" sz="3000">
                <a:solidFill>
                  <a:srgbClr val="091713"/>
                </a:solidFill>
                <a:latin typeface="Agrandir"/>
                <a:ea typeface="Agrandir"/>
                <a:cs typeface="Agrandir"/>
                <a:sym typeface="Agrandir"/>
              </a:rPr>
              <a:t>El dashboard permite visualizar de forma interactiva el comportamiento de las ventas, facilitando la identificación de tendencias y oportunidades de mejora.</a:t>
            </a:r>
          </a:p>
        </p:txBody>
      </p:sp>
      <p:sp>
        <p:nvSpPr>
          <p:cNvPr id="7" name="TextBox 7"/>
          <p:cNvSpPr txBox="1"/>
          <p:nvPr/>
        </p:nvSpPr>
        <p:spPr>
          <a:xfrm>
            <a:off x="10515720" y="7764658"/>
            <a:ext cx="7347951" cy="1301750"/>
          </a:xfrm>
          <a:prstGeom prst="rect">
            <a:avLst/>
          </a:prstGeom>
        </p:spPr>
        <p:txBody>
          <a:bodyPr lIns="0" tIns="0" rIns="0" bIns="0" rtlCol="0" anchor="t">
            <a:spAutoFit/>
          </a:bodyPr>
          <a:lstStyle/>
          <a:p>
            <a:pPr algn="l">
              <a:lnSpc>
                <a:spcPts val="9100"/>
              </a:lnSpc>
              <a:spcBef>
                <a:spcPct val="0"/>
              </a:spcBef>
            </a:pPr>
            <a:r>
              <a:rPr lang="en-US" sz="6500" b="1" u="sng">
                <a:gradFill>
                  <a:gsLst>
                    <a:gs pos="0">
                      <a:srgbClr val="2F6359">
                        <a:alpha val="100000"/>
                      </a:srgbClr>
                    </a:gs>
                    <a:gs pos="100000">
                      <a:srgbClr val="6EC8BD">
                        <a:alpha val="100000"/>
                      </a:srgbClr>
                    </a:gs>
                  </a:gsLst>
                  <a:lin ang="0"/>
                </a:gradFill>
                <a:latin typeface="Agrandir Bold"/>
                <a:ea typeface="Agrandir Bold"/>
                <a:cs typeface="Agrandir Bold"/>
                <a:sym typeface="Agrandir Bold"/>
                <a:hlinkClick r:id="rId5" tooltip="https://lookerstudio.google.com/reporting/34ae66fb-c782-44ea-9aa5-10119576b093"/>
              </a:rPr>
              <a:t>Enlace</a:t>
            </a:r>
            <a:r>
              <a:rPr lang="en-US" sz="6500" b="1" u="sng">
                <a:gradFill>
                  <a:gsLst>
                    <a:gs pos="0">
                      <a:srgbClr val="2F6359">
                        <a:alpha val="100000"/>
                      </a:srgbClr>
                    </a:gs>
                    <a:gs pos="100000">
                      <a:srgbClr val="6EC8BD">
                        <a:alpha val="100000"/>
                      </a:srgbClr>
                    </a:gs>
                  </a:gsLst>
                  <a:lin ang="0"/>
                </a:gradFill>
                <a:latin typeface="Agrandir Bold"/>
                <a:ea typeface="Agrandir Bold"/>
                <a:cs typeface="Agrandir Bold"/>
                <a:sym typeface="Agrandir Bold"/>
                <a:hlinkClick r:id="rId5" tooltip="https://lookerstudio.google.com/reporting/34ae66fb-c782-44ea-9aa5-10119576b093"/>
              </a:rPr>
              <a:t> a tablero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10800000" flipH="1">
            <a:off x="-821531" y="9115425"/>
            <a:ext cx="19931061" cy="11221603"/>
          </a:xfrm>
          <a:custGeom>
            <a:avLst/>
            <a:gdLst/>
            <a:ahLst/>
            <a:cxnLst/>
            <a:rect l="l" t="t" r="r" b="b"/>
            <a:pathLst>
              <a:path w="19931061" h="11221603">
                <a:moveTo>
                  <a:pt x="19931062" y="0"/>
                </a:moveTo>
                <a:lnTo>
                  <a:pt x="0" y="0"/>
                </a:lnTo>
                <a:lnTo>
                  <a:pt x="0" y="11221603"/>
                </a:lnTo>
                <a:lnTo>
                  <a:pt x="19931062" y="11221603"/>
                </a:lnTo>
                <a:lnTo>
                  <a:pt x="19931062" y="0"/>
                </a:lnTo>
                <a:close/>
              </a:path>
            </a:pathLst>
          </a:custGeom>
          <a:blipFill>
            <a:blip>
              <a:extLst>
                <a:ext uri="{96DAC541-7B7A-43D3-8B79-37D633B846F1}">
                  <asvg:svgBlip xmlns:asvg="http://schemas.microsoft.com/office/drawing/2016/SVG/main" r:embed="rId2"/>
                </a:ext>
              </a:extLst>
            </a:blip>
            <a:stretch>
              <a:fillRect t="-18128" r="-18128"/>
            </a:stretch>
          </a:blipFill>
        </p:spPr>
        <p:txBody>
          <a:bodyPr/>
          <a:lstStyle/>
          <a:p>
            <a:endParaRPr lang="en-US"/>
          </a:p>
        </p:txBody>
      </p:sp>
      <p:sp>
        <p:nvSpPr>
          <p:cNvPr id="3" name="Freeform 3"/>
          <p:cNvSpPr/>
          <p:nvPr/>
        </p:nvSpPr>
        <p:spPr>
          <a:xfrm>
            <a:off x="494967" y="523996"/>
            <a:ext cx="8413921" cy="2955390"/>
          </a:xfrm>
          <a:custGeom>
            <a:avLst/>
            <a:gdLst/>
            <a:ahLst/>
            <a:cxnLst/>
            <a:rect l="l" t="t" r="r" b="b"/>
            <a:pathLst>
              <a:path w="8413921" h="2955390">
                <a:moveTo>
                  <a:pt x="0" y="0"/>
                </a:moveTo>
                <a:lnTo>
                  <a:pt x="8413921" y="0"/>
                </a:lnTo>
                <a:lnTo>
                  <a:pt x="8413921" y="2955390"/>
                </a:lnTo>
                <a:lnTo>
                  <a:pt x="0" y="2955390"/>
                </a:lnTo>
                <a:lnTo>
                  <a:pt x="0" y="0"/>
                </a:lnTo>
                <a:close/>
              </a:path>
            </a:pathLst>
          </a:custGeom>
          <a:blipFill>
            <a:blip r:embed="rId3"/>
            <a:stretch>
              <a:fillRect/>
            </a:stretch>
          </a:blipFill>
        </p:spPr>
        <p:txBody>
          <a:bodyPr/>
          <a:lstStyle/>
          <a:p>
            <a:endParaRPr lang="en-US"/>
          </a:p>
        </p:txBody>
      </p:sp>
      <p:sp>
        <p:nvSpPr>
          <p:cNvPr id="4" name="Freeform 4"/>
          <p:cNvSpPr/>
          <p:nvPr/>
        </p:nvSpPr>
        <p:spPr>
          <a:xfrm>
            <a:off x="9178150" y="658011"/>
            <a:ext cx="8614884" cy="2821374"/>
          </a:xfrm>
          <a:custGeom>
            <a:avLst/>
            <a:gdLst/>
            <a:ahLst/>
            <a:cxnLst/>
            <a:rect l="l" t="t" r="r" b="b"/>
            <a:pathLst>
              <a:path w="8614884" h="2821374">
                <a:moveTo>
                  <a:pt x="0" y="0"/>
                </a:moveTo>
                <a:lnTo>
                  <a:pt x="8614883" y="0"/>
                </a:lnTo>
                <a:lnTo>
                  <a:pt x="8614883" y="2821375"/>
                </a:lnTo>
                <a:lnTo>
                  <a:pt x="0" y="2821375"/>
                </a:lnTo>
                <a:lnTo>
                  <a:pt x="0" y="0"/>
                </a:lnTo>
                <a:close/>
              </a:path>
            </a:pathLst>
          </a:custGeom>
          <a:blipFill>
            <a:blip r:embed="rId4"/>
            <a:stretch>
              <a:fillRect/>
            </a:stretch>
          </a:blipFill>
        </p:spPr>
        <p:txBody>
          <a:bodyPr/>
          <a:lstStyle/>
          <a:p>
            <a:endParaRPr lang="en-US"/>
          </a:p>
        </p:txBody>
      </p:sp>
      <p:sp>
        <p:nvSpPr>
          <p:cNvPr id="5" name="Freeform 5"/>
          <p:cNvSpPr/>
          <p:nvPr/>
        </p:nvSpPr>
        <p:spPr>
          <a:xfrm>
            <a:off x="393449" y="3775761"/>
            <a:ext cx="8591701" cy="2888960"/>
          </a:xfrm>
          <a:custGeom>
            <a:avLst/>
            <a:gdLst/>
            <a:ahLst/>
            <a:cxnLst/>
            <a:rect l="l" t="t" r="r" b="b"/>
            <a:pathLst>
              <a:path w="8591701" h="2888960">
                <a:moveTo>
                  <a:pt x="0" y="0"/>
                </a:moveTo>
                <a:lnTo>
                  <a:pt x="8591701" y="0"/>
                </a:lnTo>
                <a:lnTo>
                  <a:pt x="8591701" y="2888959"/>
                </a:lnTo>
                <a:lnTo>
                  <a:pt x="0" y="2888959"/>
                </a:lnTo>
                <a:lnTo>
                  <a:pt x="0" y="0"/>
                </a:lnTo>
                <a:close/>
              </a:path>
            </a:pathLst>
          </a:custGeom>
          <a:blipFill>
            <a:blip r:embed="rId5"/>
            <a:stretch>
              <a:fillRect/>
            </a:stretch>
          </a:blipFill>
        </p:spPr>
        <p:txBody>
          <a:bodyPr/>
          <a:lstStyle/>
          <a:p>
            <a:endParaRPr lang="en-US"/>
          </a:p>
        </p:txBody>
      </p:sp>
      <p:sp>
        <p:nvSpPr>
          <p:cNvPr id="6" name="Freeform 6"/>
          <p:cNvSpPr/>
          <p:nvPr/>
        </p:nvSpPr>
        <p:spPr>
          <a:xfrm>
            <a:off x="9301001" y="3872965"/>
            <a:ext cx="8492032" cy="2791755"/>
          </a:xfrm>
          <a:custGeom>
            <a:avLst/>
            <a:gdLst/>
            <a:ahLst/>
            <a:cxnLst/>
            <a:rect l="l" t="t" r="r" b="b"/>
            <a:pathLst>
              <a:path w="8492032" h="2791755">
                <a:moveTo>
                  <a:pt x="0" y="0"/>
                </a:moveTo>
                <a:lnTo>
                  <a:pt x="8492032" y="0"/>
                </a:lnTo>
                <a:lnTo>
                  <a:pt x="8492032" y="2791755"/>
                </a:lnTo>
                <a:lnTo>
                  <a:pt x="0" y="2791755"/>
                </a:lnTo>
                <a:lnTo>
                  <a:pt x="0" y="0"/>
                </a:lnTo>
                <a:close/>
              </a:path>
            </a:pathLst>
          </a:custGeom>
          <a:blipFill>
            <a:blip r:embed="rId6"/>
            <a:stretch>
              <a:fillRect/>
            </a:stretch>
          </a:blipFill>
        </p:spPr>
        <p:txBody>
          <a:bodyPr/>
          <a:lstStyle/>
          <a:p>
            <a:endParaRPr lang="en-US"/>
          </a:p>
        </p:txBody>
      </p:sp>
      <p:sp>
        <p:nvSpPr>
          <p:cNvPr id="7" name="Freeform 7"/>
          <p:cNvSpPr/>
          <p:nvPr/>
        </p:nvSpPr>
        <p:spPr>
          <a:xfrm>
            <a:off x="494967" y="7056346"/>
            <a:ext cx="8885696" cy="3087779"/>
          </a:xfrm>
          <a:custGeom>
            <a:avLst/>
            <a:gdLst/>
            <a:ahLst/>
            <a:cxnLst/>
            <a:rect l="l" t="t" r="r" b="b"/>
            <a:pathLst>
              <a:path w="8885696" h="3087779">
                <a:moveTo>
                  <a:pt x="0" y="0"/>
                </a:moveTo>
                <a:lnTo>
                  <a:pt x="8885696" y="0"/>
                </a:lnTo>
                <a:lnTo>
                  <a:pt x="8885696" y="3087779"/>
                </a:lnTo>
                <a:lnTo>
                  <a:pt x="0" y="3087779"/>
                </a:lnTo>
                <a:lnTo>
                  <a:pt x="0" y="0"/>
                </a:lnTo>
                <a:close/>
              </a:path>
            </a:pathLst>
          </a:custGeom>
          <a:blipFill>
            <a:blip r:embed="rId7"/>
            <a:stretch>
              <a:fillRect/>
            </a:stretch>
          </a:blipFill>
        </p:spPr>
        <p:txBody>
          <a:bodyPr/>
          <a:lstStyle/>
          <a:p>
            <a:endParaRPr lang="en-US"/>
          </a:p>
        </p:txBody>
      </p:sp>
      <p:sp>
        <p:nvSpPr>
          <p:cNvPr id="8" name="Freeform 8"/>
          <p:cNvSpPr/>
          <p:nvPr/>
        </p:nvSpPr>
        <p:spPr>
          <a:xfrm>
            <a:off x="9852059" y="7507341"/>
            <a:ext cx="8020635" cy="2636784"/>
          </a:xfrm>
          <a:custGeom>
            <a:avLst/>
            <a:gdLst/>
            <a:ahLst/>
            <a:cxnLst/>
            <a:rect l="l" t="t" r="r" b="b"/>
            <a:pathLst>
              <a:path w="8020635" h="2636784">
                <a:moveTo>
                  <a:pt x="0" y="0"/>
                </a:moveTo>
                <a:lnTo>
                  <a:pt x="8020636" y="0"/>
                </a:lnTo>
                <a:lnTo>
                  <a:pt x="8020636" y="2636784"/>
                </a:lnTo>
                <a:lnTo>
                  <a:pt x="0" y="2636784"/>
                </a:lnTo>
                <a:lnTo>
                  <a:pt x="0" y="0"/>
                </a:lnTo>
                <a:close/>
              </a:path>
            </a:pathLst>
          </a:custGeom>
          <a:blipFill>
            <a:blip r:embed="rId8"/>
            <a:stretch>
              <a:fillRect/>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10800000" flipH="1">
            <a:off x="-821531" y="9258300"/>
            <a:ext cx="19931061" cy="11221603"/>
          </a:xfrm>
          <a:custGeom>
            <a:avLst/>
            <a:gdLst/>
            <a:ahLst/>
            <a:cxnLst/>
            <a:rect l="l" t="t" r="r" b="b"/>
            <a:pathLst>
              <a:path w="19931061" h="11221603">
                <a:moveTo>
                  <a:pt x="19931062" y="0"/>
                </a:moveTo>
                <a:lnTo>
                  <a:pt x="0" y="0"/>
                </a:lnTo>
                <a:lnTo>
                  <a:pt x="0" y="11221603"/>
                </a:lnTo>
                <a:lnTo>
                  <a:pt x="19931062" y="11221603"/>
                </a:lnTo>
                <a:lnTo>
                  <a:pt x="19931062" y="0"/>
                </a:lnTo>
                <a:close/>
              </a:path>
            </a:pathLst>
          </a:custGeom>
          <a:blipFill>
            <a:blip>
              <a:extLst>
                <a:ext uri="{96DAC541-7B7A-43D3-8B79-37D633B846F1}">
                  <asvg:svgBlip xmlns:asvg="http://schemas.microsoft.com/office/drawing/2016/SVG/main" r:embed="rId2"/>
                </a:ext>
              </a:extLst>
            </a:blip>
            <a:stretch>
              <a:fillRect t="-18128" r="-18128"/>
            </a:stretch>
          </a:blipFill>
        </p:spPr>
        <p:txBody>
          <a:bodyPr/>
          <a:lstStyle/>
          <a:p>
            <a:endParaRPr lang="en-US"/>
          </a:p>
        </p:txBody>
      </p:sp>
      <p:sp>
        <p:nvSpPr>
          <p:cNvPr id="3" name="Freeform 3"/>
          <p:cNvSpPr/>
          <p:nvPr/>
        </p:nvSpPr>
        <p:spPr>
          <a:xfrm>
            <a:off x="1028700" y="1389062"/>
            <a:ext cx="7398726" cy="5594159"/>
          </a:xfrm>
          <a:custGeom>
            <a:avLst/>
            <a:gdLst/>
            <a:ahLst/>
            <a:cxnLst/>
            <a:rect l="l" t="t" r="r" b="b"/>
            <a:pathLst>
              <a:path w="7398726" h="5594159">
                <a:moveTo>
                  <a:pt x="0" y="0"/>
                </a:moveTo>
                <a:lnTo>
                  <a:pt x="7398726" y="0"/>
                </a:lnTo>
                <a:lnTo>
                  <a:pt x="7398726" y="5594159"/>
                </a:lnTo>
                <a:lnTo>
                  <a:pt x="0" y="5594159"/>
                </a:lnTo>
                <a:lnTo>
                  <a:pt x="0" y="0"/>
                </a:lnTo>
                <a:close/>
              </a:path>
            </a:pathLst>
          </a:custGeom>
          <a:blipFill>
            <a:blip r:embed="rId3"/>
            <a:stretch>
              <a:fillRect/>
            </a:stretch>
          </a:blipFill>
        </p:spPr>
        <p:txBody>
          <a:bodyPr/>
          <a:lstStyle/>
          <a:p>
            <a:endParaRPr lang="en-US"/>
          </a:p>
        </p:txBody>
      </p:sp>
      <p:sp>
        <p:nvSpPr>
          <p:cNvPr id="4" name="Freeform 4"/>
          <p:cNvSpPr/>
          <p:nvPr/>
        </p:nvSpPr>
        <p:spPr>
          <a:xfrm>
            <a:off x="9416105" y="1389062"/>
            <a:ext cx="6947504" cy="5596600"/>
          </a:xfrm>
          <a:custGeom>
            <a:avLst/>
            <a:gdLst/>
            <a:ahLst/>
            <a:cxnLst/>
            <a:rect l="l" t="t" r="r" b="b"/>
            <a:pathLst>
              <a:path w="6947504" h="5596600">
                <a:moveTo>
                  <a:pt x="0" y="0"/>
                </a:moveTo>
                <a:lnTo>
                  <a:pt x="6947504" y="0"/>
                </a:lnTo>
                <a:lnTo>
                  <a:pt x="6947504" y="5596601"/>
                </a:lnTo>
                <a:lnTo>
                  <a:pt x="0" y="5596601"/>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6439409" y="-55562"/>
            <a:ext cx="5409182" cy="1301750"/>
          </a:xfrm>
          <a:prstGeom prst="rect">
            <a:avLst/>
          </a:prstGeom>
        </p:spPr>
        <p:txBody>
          <a:bodyPr lIns="0" tIns="0" rIns="0" bIns="0" rtlCol="0" anchor="t">
            <a:spAutoFit/>
          </a:bodyPr>
          <a:lstStyle/>
          <a:p>
            <a:pPr algn="l">
              <a:lnSpc>
                <a:spcPts val="9100"/>
              </a:lnSpc>
              <a:spcBef>
                <a:spcPct val="0"/>
              </a:spcBef>
            </a:pPr>
            <a:r>
              <a:rPr lang="en-US" sz="6500"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Dashboard</a:t>
            </a:r>
          </a:p>
        </p:txBody>
      </p:sp>
      <p:sp>
        <p:nvSpPr>
          <p:cNvPr id="6" name="TextBox 6"/>
          <p:cNvSpPr txBox="1"/>
          <p:nvPr/>
        </p:nvSpPr>
        <p:spPr>
          <a:xfrm>
            <a:off x="1047245" y="7277431"/>
            <a:ext cx="14760363" cy="1498600"/>
          </a:xfrm>
          <a:prstGeom prst="rect">
            <a:avLst/>
          </a:prstGeom>
        </p:spPr>
        <p:txBody>
          <a:bodyPr lIns="0" tIns="0" rIns="0" bIns="0" rtlCol="0" anchor="t">
            <a:spAutoFit/>
          </a:bodyPr>
          <a:lstStyle/>
          <a:p>
            <a:pPr algn="just">
              <a:lnSpc>
                <a:spcPts val="5599"/>
              </a:lnSpc>
              <a:spcBef>
                <a:spcPct val="0"/>
              </a:spcBef>
            </a:pPr>
            <a:r>
              <a:rPr lang="en-US" sz="3999">
                <a:solidFill>
                  <a:srgbClr val="091713"/>
                </a:solidFill>
                <a:latin typeface="Agrandir"/>
                <a:ea typeface="Agrandir"/>
                <a:cs typeface="Agrandir"/>
                <a:sym typeface="Agrandir"/>
              </a:rPr>
              <a:t>Se observa una diferencia clara en el desempeño por región, así como variaciones en el tiempo.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13064057" y="2320760"/>
            <a:ext cx="20605972" cy="11601592"/>
          </a:xfrm>
          <a:custGeom>
            <a:avLst/>
            <a:gdLst/>
            <a:ahLst/>
            <a:cxnLst/>
            <a:rect l="l" t="t" r="r" b="b"/>
            <a:pathLst>
              <a:path w="20605972" h="11601592">
                <a:moveTo>
                  <a:pt x="20605973" y="11601592"/>
                </a:moveTo>
                <a:lnTo>
                  <a:pt x="0" y="11601592"/>
                </a:lnTo>
                <a:lnTo>
                  <a:pt x="0" y="0"/>
                </a:lnTo>
                <a:lnTo>
                  <a:pt x="20605973" y="0"/>
                </a:lnTo>
                <a:lnTo>
                  <a:pt x="20605973" y="1160159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1313956" y="119713"/>
            <a:ext cx="6656383" cy="1465549"/>
          </a:xfrm>
          <a:prstGeom prst="rect">
            <a:avLst/>
          </a:prstGeom>
        </p:spPr>
        <p:txBody>
          <a:bodyPr lIns="0" tIns="0" rIns="0" bIns="0" rtlCol="0" anchor="t">
            <a:spAutoFit/>
          </a:bodyPr>
          <a:lstStyle/>
          <a:p>
            <a:pPr algn="l">
              <a:lnSpc>
                <a:spcPts val="10266"/>
              </a:lnSpc>
              <a:spcBef>
                <a:spcPct val="0"/>
              </a:spcBef>
            </a:pPr>
            <a:r>
              <a:rPr lang="en-US" sz="7333"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Insights</a:t>
            </a:r>
          </a:p>
        </p:txBody>
      </p:sp>
      <p:sp>
        <p:nvSpPr>
          <p:cNvPr id="4" name="TextBox 4"/>
          <p:cNvSpPr txBox="1"/>
          <p:nvPr/>
        </p:nvSpPr>
        <p:spPr>
          <a:xfrm>
            <a:off x="1313956" y="2892736"/>
            <a:ext cx="671371" cy="922467"/>
          </a:xfrm>
          <a:prstGeom prst="rect">
            <a:avLst/>
          </a:prstGeom>
        </p:spPr>
        <p:txBody>
          <a:bodyPr lIns="0" tIns="0" rIns="0" bIns="0" rtlCol="0" anchor="t">
            <a:spAutoFit/>
          </a:bodyPr>
          <a:lstStyle/>
          <a:p>
            <a:pPr algn="l">
              <a:lnSpc>
                <a:spcPts val="6468"/>
              </a:lnSpc>
              <a:spcBef>
                <a:spcPct val="0"/>
              </a:spcBef>
            </a:pPr>
            <a:r>
              <a:rPr lang="en-US" sz="4620" b="1">
                <a:solidFill>
                  <a:srgbClr val="3DA497"/>
                </a:solidFill>
                <a:latin typeface="Agrandir Bold"/>
                <a:ea typeface="Agrandir Bold"/>
                <a:cs typeface="Agrandir Bold"/>
                <a:sym typeface="Agrandir Bold"/>
              </a:rPr>
              <a:t>1</a:t>
            </a:r>
          </a:p>
        </p:txBody>
      </p:sp>
      <p:sp>
        <p:nvSpPr>
          <p:cNvPr id="5" name="TextBox 5"/>
          <p:cNvSpPr txBox="1"/>
          <p:nvPr/>
        </p:nvSpPr>
        <p:spPr>
          <a:xfrm>
            <a:off x="1985327" y="2595463"/>
            <a:ext cx="13203025" cy="1457198"/>
          </a:xfrm>
          <a:prstGeom prst="rect">
            <a:avLst/>
          </a:prstGeom>
        </p:spPr>
        <p:txBody>
          <a:bodyPr lIns="0" tIns="0" rIns="0" bIns="0" rtlCol="0" anchor="t">
            <a:spAutoFit/>
          </a:bodyPr>
          <a:lstStyle/>
          <a:p>
            <a:pPr algn="l">
              <a:lnSpc>
                <a:spcPts val="3682"/>
              </a:lnSpc>
            </a:pPr>
            <a:r>
              <a:rPr lang="en-US" sz="2630" b="1">
                <a:solidFill>
                  <a:srgbClr val="2F6359"/>
                </a:solidFill>
                <a:latin typeface="Agrandir Bold"/>
                <a:ea typeface="Agrandir Bold"/>
                <a:cs typeface="Agrandir Bold"/>
                <a:sym typeface="Agrandir Bold"/>
              </a:rPr>
              <a:t>Concentración de ventas</a:t>
            </a:r>
          </a:p>
          <a:p>
            <a:pPr algn="l">
              <a:lnSpc>
                <a:spcPts val="3682"/>
              </a:lnSpc>
              <a:spcBef>
                <a:spcPct val="0"/>
              </a:spcBef>
            </a:pPr>
            <a:r>
              <a:rPr lang="en-US" sz="2630">
                <a:solidFill>
                  <a:srgbClr val="091713"/>
                </a:solidFill>
                <a:latin typeface="Agrandir"/>
                <a:ea typeface="Agrandir"/>
                <a:cs typeface="Agrandir"/>
                <a:sym typeface="Agrandir"/>
              </a:rPr>
              <a:t>Las ventas se concentran principalmente en ciertas categorías, lo que indica que el negocio depende de productos clave.</a:t>
            </a:r>
          </a:p>
        </p:txBody>
      </p:sp>
      <p:sp>
        <p:nvSpPr>
          <p:cNvPr id="6" name="TextBox 6"/>
          <p:cNvSpPr txBox="1"/>
          <p:nvPr/>
        </p:nvSpPr>
        <p:spPr>
          <a:xfrm>
            <a:off x="1313956" y="4562651"/>
            <a:ext cx="671371" cy="922467"/>
          </a:xfrm>
          <a:prstGeom prst="rect">
            <a:avLst/>
          </a:prstGeom>
        </p:spPr>
        <p:txBody>
          <a:bodyPr lIns="0" tIns="0" rIns="0" bIns="0" rtlCol="0" anchor="t">
            <a:spAutoFit/>
          </a:bodyPr>
          <a:lstStyle/>
          <a:p>
            <a:pPr algn="l">
              <a:lnSpc>
                <a:spcPts val="6468"/>
              </a:lnSpc>
              <a:spcBef>
                <a:spcPct val="0"/>
              </a:spcBef>
            </a:pPr>
            <a:r>
              <a:rPr lang="en-US" sz="4620" b="1">
                <a:solidFill>
                  <a:srgbClr val="3DA497"/>
                </a:solidFill>
                <a:latin typeface="Agrandir Bold"/>
                <a:ea typeface="Agrandir Bold"/>
                <a:cs typeface="Agrandir Bold"/>
                <a:sym typeface="Agrandir Bold"/>
              </a:rPr>
              <a:t>2</a:t>
            </a:r>
          </a:p>
        </p:txBody>
      </p:sp>
      <p:sp>
        <p:nvSpPr>
          <p:cNvPr id="7" name="TextBox 7"/>
          <p:cNvSpPr txBox="1"/>
          <p:nvPr/>
        </p:nvSpPr>
        <p:spPr>
          <a:xfrm>
            <a:off x="1313956" y="6232566"/>
            <a:ext cx="671371" cy="922467"/>
          </a:xfrm>
          <a:prstGeom prst="rect">
            <a:avLst/>
          </a:prstGeom>
        </p:spPr>
        <p:txBody>
          <a:bodyPr lIns="0" tIns="0" rIns="0" bIns="0" rtlCol="0" anchor="t">
            <a:spAutoFit/>
          </a:bodyPr>
          <a:lstStyle/>
          <a:p>
            <a:pPr algn="l">
              <a:lnSpc>
                <a:spcPts val="6468"/>
              </a:lnSpc>
              <a:spcBef>
                <a:spcPct val="0"/>
              </a:spcBef>
            </a:pPr>
            <a:r>
              <a:rPr lang="en-US" sz="4620" b="1">
                <a:solidFill>
                  <a:srgbClr val="3DA497"/>
                </a:solidFill>
                <a:latin typeface="Agrandir Bold"/>
                <a:ea typeface="Agrandir Bold"/>
                <a:cs typeface="Agrandir Bold"/>
                <a:sym typeface="Agrandir Bold"/>
              </a:rPr>
              <a:t>3</a:t>
            </a:r>
          </a:p>
        </p:txBody>
      </p:sp>
      <p:sp>
        <p:nvSpPr>
          <p:cNvPr id="8" name="TextBox 8"/>
          <p:cNvSpPr txBox="1"/>
          <p:nvPr/>
        </p:nvSpPr>
        <p:spPr>
          <a:xfrm>
            <a:off x="1313956" y="7902481"/>
            <a:ext cx="671371" cy="922467"/>
          </a:xfrm>
          <a:prstGeom prst="rect">
            <a:avLst/>
          </a:prstGeom>
        </p:spPr>
        <p:txBody>
          <a:bodyPr lIns="0" tIns="0" rIns="0" bIns="0" rtlCol="0" anchor="t">
            <a:spAutoFit/>
          </a:bodyPr>
          <a:lstStyle/>
          <a:p>
            <a:pPr algn="l">
              <a:lnSpc>
                <a:spcPts val="6468"/>
              </a:lnSpc>
              <a:spcBef>
                <a:spcPct val="0"/>
              </a:spcBef>
            </a:pPr>
            <a:r>
              <a:rPr lang="en-US" sz="4620" b="1">
                <a:solidFill>
                  <a:srgbClr val="3DA497"/>
                </a:solidFill>
                <a:latin typeface="Agrandir Bold"/>
                <a:ea typeface="Agrandir Bold"/>
                <a:cs typeface="Agrandir Bold"/>
                <a:sym typeface="Agrandir Bold"/>
              </a:rPr>
              <a:t>4</a:t>
            </a:r>
          </a:p>
        </p:txBody>
      </p:sp>
      <p:sp>
        <p:nvSpPr>
          <p:cNvPr id="9" name="AutoShape 9"/>
          <p:cNvSpPr/>
          <p:nvPr/>
        </p:nvSpPr>
        <p:spPr>
          <a:xfrm flipV="1">
            <a:off x="0" y="4262211"/>
            <a:ext cx="9242835" cy="0"/>
          </a:xfrm>
          <a:prstGeom prst="line">
            <a:avLst/>
          </a:prstGeom>
          <a:ln w="38100" cap="flat">
            <a:gradFill>
              <a:gsLst>
                <a:gs pos="0">
                  <a:srgbClr val="6EC8BD">
                    <a:alpha val="100000"/>
                  </a:srgbClr>
                </a:gs>
                <a:gs pos="100000">
                  <a:srgbClr val="2F6359">
                    <a:alpha val="100000"/>
                  </a:srgbClr>
                </a:gs>
              </a:gsLst>
              <a:lin ang="0"/>
            </a:gradFill>
            <a:prstDash val="solid"/>
            <a:headEnd type="none" w="sm" len="sm"/>
            <a:tailEnd type="none" w="sm" len="sm"/>
          </a:ln>
        </p:spPr>
        <p:txBody>
          <a:bodyPr/>
          <a:lstStyle/>
          <a:p>
            <a:endParaRPr lang="en-US"/>
          </a:p>
        </p:txBody>
      </p:sp>
      <p:sp>
        <p:nvSpPr>
          <p:cNvPr id="10" name="AutoShape 10"/>
          <p:cNvSpPr/>
          <p:nvPr/>
        </p:nvSpPr>
        <p:spPr>
          <a:xfrm>
            <a:off x="0" y="5932126"/>
            <a:ext cx="9242835" cy="0"/>
          </a:xfrm>
          <a:prstGeom prst="line">
            <a:avLst/>
          </a:prstGeom>
          <a:ln w="38100" cap="flat">
            <a:gradFill>
              <a:gsLst>
                <a:gs pos="0">
                  <a:srgbClr val="6EC8BD">
                    <a:alpha val="100000"/>
                  </a:srgbClr>
                </a:gs>
                <a:gs pos="100000">
                  <a:srgbClr val="2F6359">
                    <a:alpha val="100000"/>
                  </a:srgbClr>
                </a:gs>
              </a:gsLst>
              <a:lin ang="0"/>
            </a:gradFill>
            <a:prstDash val="solid"/>
            <a:headEnd type="none" w="sm" len="sm"/>
            <a:tailEnd type="none" w="sm" len="sm"/>
          </a:ln>
        </p:spPr>
        <p:txBody>
          <a:bodyPr/>
          <a:lstStyle/>
          <a:p>
            <a:endParaRPr lang="en-US"/>
          </a:p>
        </p:txBody>
      </p:sp>
      <p:sp>
        <p:nvSpPr>
          <p:cNvPr id="11" name="AutoShape 11"/>
          <p:cNvSpPr/>
          <p:nvPr/>
        </p:nvSpPr>
        <p:spPr>
          <a:xfrm>
            <a:off x="0" y="7602041"/>
            <a:ext cx="9242835" cy="0"/>
          </a:xfrm>
          <a:prstGeom prst="line">
            <a:avLst/>
          </a:prstGeom>
          <a:ln w="38100" cap="flat">
            <a:gradFill>
              <a:gsLst>
                <a:gs pos="0">
                  <a:srgbClr val="6EC8BD">
                    <a:alpha val="100000"/>
                  </a:srgbClr>
                </a:gs>
                <a:gs pos="100000">
                  <a:srgbClr val="2F6359">
                    <a:alpha val="100000"/>
                  </a:srgbClr>
                </a:gs>
              </a:gsLst>
              <a:lin ang="0"/>
            </a:gradFill>
            <a:prstDash val="solid"/>
            <a:headEnd type="none" w="sm" len="sm"/>
            <a:tailEnd type="none" w="sm" len="sm"/>
          </a:ln>
        </p:spPr>
        <p:txBody>
          <a:bodyPr/>
          <a:lstStyle/>
          <a:p>
            <a:endParaRPr lang="en-US"/>
          </a:p>
        </p:txBody>
      </p:sp>
      <p:sp>
        <p:nvSpPr>
          <p:cNvPr id="12" name="TextBox 12"/>
          <p:cNvSpPr txBox="1"/>
          <p:nvPr/>
        </p:nvSpPr>
        <p:spPr>
          <a:xfrm>
            <a:off x="1985327" y="4265425"/>
            <a:ext cx="13203025" cy="1457151"/>
          </a:xfrm>
          <a:prstGeom prst="rect">
            <a:avLst/>
          </a:prstGeom>
        </p:spPr>
        <p:txBody>
          <a:bodyPr lIns="0" tIns="0" rIns="0" bIns="0" rtlCol="0" anchor="t">
            <a:spAutoFit/>
          </a:bodyPr>
          <a:lstStyle/>
          <a:p>
            <a:pPr algn="l">
              <a:lnSpc>
                <a:spcPts val="3684"/>
              </a:lnSpc>
            </a:pPr>
            <a:r>
              <a:rPr lang="en-US" sz="2631" b="1">
                <a:solidFill>
                  <a:srgbClr val="2F6359"/>
                </a:solidFill>
                <a:latin typeface="Agrandir Bold"/>
                <a:ea typeface="Agrandir Bold"/>
                <a:cs typeface="Agrandir Bold"/>
                <a:sym typeface="Agrandir Bold"/>
              </a:rPr>
              <a:t>Regiones con mayor desempeño</a:t>
            </a:r>
          </a:p>
          <a:p>
            <a:pPr algn="l">
              <a:lnSpc>
                <a:spcPts val="3684"/>
              </a:lnSpc>
              <a:spcBef>
                <a:spcPct val="0"/>
              </a:spcBef>
            </a:pPr>
            <a:r>
              <a:rPr lang="en-US" sz="2631">
                <a:solidFill>
                  <a:srgbClr val="091713"/>
                </a:solidFill>
                <a:latin typeface="Agrandir"/>
                <a:ea typeface="Agrandir"/>
                <a:cs typeface="Agrandir"/>
                <a:sym typeface="Agrandir"/>
              </a:rPr>
              <a:t>Algunas regiones destacan significativamente en ventas, lo que permite identificar mercados estratégicos.</a:t>
            </a:r>
          </a:p>
        </p:txBody>
      </p:sp>
      <p:sp>
        <p:nvSpPr>
          <p:cNvPr id="13" name="TextBox 13"/>
          <p:cNvSpPr txBox="1"/>
          <p:nvPr/>
        </p:nvSpPr>
        <p:spPr>
          <a:xfrm>
            <a:off x="1985327" y="5932126"/>
            <a:ext cx="13203025" cy="1457151"/>
          </a:xfrm>
          <a:prstGeom prst="rect">
            <a:avLst/>
          </a:prstGeom>
        </p:spPr>
        <p:txBody>
          <a:bodyPr lIns="0" tIns="0" rIns="0" bIns="0" rtlCol="0" anchor="t">
            <a:spAutoFit/>
          </a:bodyPr>
          <a:lstStyle/>
          <a:p>
            <a:pPr algn="l">
              <a:lnSpc>
                <a:spcPts val="3684"/>
              </a:lnSpc>
            </a:pPr>
            <a:r>
              <a:rPr lang="en-US" sz="2631" b="1">
                <a:solidFill>
                  <a:srgbClr val="2F6359"/>
                </a:solidFill>
                <a:latin typeface="Agrandir Bold"/>
                <a:ea typeface="Agrandir Bold"/>
                <a:cs typeface="Agrandir Bold"/>
                <a:sym typeface="Agrandir Bold"/>
              </a:rPr>
              <a:t>Diferencias por segmento</a:t>
            </a:r>
          </a:p>
          <a:p>
            <a:pPr algn="l">
              <a:lnSpc>
                <a:spcPts val="3684"/>
              </a:lnSpc>
              <a:spcBef>
                <a:spcPct val="0"/>
              </a:spcBef>
            </a:pPr>
            <a:r>
              <a:rPr lang="en-US" sz="2631">
                <a:solidFill>
                  <a:srgbClr val="091713"/>
                </a:solidFill>
                <a:latin typeface="Agrandir"/>
                <a:ea typeface="Agrandir"/>
                <a:cs typeface="Agrandir"/>
                <a:sym typeface="Agrandir"/>
              </a:rPr>
              <a:t>Se observan variaciones en el desempeño entre segmentos, lo que sugiere oportunidades de optimización comercial.</a:t>
            </a:r>
          </a:p>
        </p:txBody>
      </p:sp>
      <p:sp>
        <p:nvSpPr>
          <p:cNvPr id="14" name="TextBox 14"/>
          <p:cNvSpPr txBox="1"/>
          <p:nvPr/>
        </p:nvSpPr>
        <p:spPr>
          <a:xfrm>
            <a:off x="1985327" y="7687766"/>
            <a:ext cx="13203025" cy="1923876"/>
          </a:xfrm>
          <a:prstGeom prst="rect">
            <a:avLst/>
          </a:prstGeom>
        </p:spPr>
        <p:txBody>
          <a:bodyPr lIns="0" tIns="0" rIns="0" bIns="0" rtlCol="0" anchor="t">
            <a:spAutoFit/>
          </a:bodyPr>
          <a:lstStyle/>
          <a:p>
            <a:pPr algn="l">
              <a:lnSpc>
                <a:spcPts val="3684"/>
              </a:lnSpc>
            </a:pPr>
            <a:r>
              <a:rPr lang="en-US" sz="2631" b="1">
                <a:solidFill>
                  <a:srgbClr val="2F6359"/>
                </a:solidFill>
                <a:latin typeface="Agrandir Bold"/>
                <a:ea typeface="Agrandir Bold"/>
                <a:cs typeface="Agrandir Bold"/>
                <a:sym typeface="Agrandir Bold"/>
              </a:rPr>
              <a:t>Comportamiento en el tiempo</a:t>
            </a:r>
          </a:p>
          <a:p>
            <a:pPr algn="l">
              <a:lnSpc>
                <a:spcPts val="3684"/>
              </a:lnSpc>
            </a:pPr>
            <a:r>
              <a:rPr lang="en-US" sz="2631">
                <a:solidFill>
                  <a:srgbClr val="091713"/>
                </a:solidFill>
                <a:latin typeface="Agrandir"/>
                <a:ea typeface="Agrandir"/>
                <a:cs typeface="Agrandir"/>
                <a:sym typeface="Agrandir"/>
              </a:rPr>
              <a:t>Las ventas presentan fluctuaciones a lo largo del tiempo, lo que puede aprovecharse para mejorar la planeación.</a:t>
            </a:r>
          </a:p>
          <a:p>
            <a:pPr algn="l">
              <a:lnSpc>
                <a:spcPts val="3684"/>
              </a:lnSpc>
              <a:spcBef>
                <a:spcPct val="0"/>
              </a:spcBef>
            </a:pPr>
            <a:endParaRPr lang="en-US" sz="2631">
              <a:solidFill>
                <a:srgbClr val="091713"/>
              </a:solidFill>
              <a:latin typeface="Agrandir"/>
              <a:ea typeface="Agrandir"/>
              <a:cs typeface="Agrandir"/>
              <a:sym typeface="Agrandi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530369" y="1716066"/>
            <a:ext cx="13227262" cy="6134143"/>
          </a:xfrm>
          <a:custGeom>
            <a:avLst/>
            <a:gdLst/>
            <a:ahLst/>
            <a:cxnLst/>
            <a:rect l="l" t="t" r="r" b="b"/>
            <a:pathLst>
              <a:path w="13227262" h="6134143">
                <a:moveTo>
                  <a:pt x="0" y="0"/>
                </a:moveTo>
                <a:lnTo>
                  <a:pt x="13227262" y="0"/>
                </a:lnTo>
                <a:lnTo>
                  <a:pt x="13227262" y="6134143"/>
                </a:lnTo>
                <a:lnTo>
                  <a:pt x="0" y="613414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4146827" y="-180975"/>
            <a:ext cx="9994345" cy="1209675"/>
          </a:xfrm>
          <a:prstGeom prst="rect">
            <a:avLst/>
          </a:prstGeom>
        </p:spPr>
        <p:txBody>
          <a:bodyPr lIns="0" tIns="0" rIns="0" bIns="0" rtlCol="0" anchor="t">
            <a:spAutoFit/>
          </a:bodyPr>
          <a:lstStyle/>
          <a:p>
            <a:pPr algn="l">
              <a:lnSpc>
                <a:spcPts val="8400"/>
              </a:lnSpc>
              <a:spcBef>
                <a:spcPct val="0"/>
              </a:spcBef>
            </a:pPr>
            <a:r>
              <a:rPr lang="en-US" sz="6000"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PREDICCIÓN DE VENTAS</a:t>
            </a:r>
          </a:p>
        </p:txBody>
      </p:sp>
      <p:sp>
        <p:nvSpPr>
          <p:cNvPr id="5" name="TextBox 5"/>
          <p:cNvSpPr txBox="1"/>
          <p:nvPr/>
        </p:nvSpPr>
        <p:spPr>
          <a:xfrm>
            <a:off x="1416993" y="857250"/>
            <a:ext cx="15454015" cy="701675"/>
          </a:xfrm>
          <a:prstGeom prst="rect">
            <a:avLst/>
          </a:prstGeom>
        </p:spPr>
        <p:txBody>
          <a:bodyPr lIns="0" tIns="0" rIns="0" bIns="0" rtlCol="0" anchor="t">
            <a:spAutoFit/>
          </a:bodyPr>
          <a:lstStyle/>
          <a:p>
            <a:pPr algn="ctr">
              <a:lnSpc>
                <a:spcPts val="4900"/>
              </a:lnSpc>
              <a:spcBef>
                <a:spcPct val="0"/>
              </a:spcBef>
            </a:pPr>
            <a:r>
              <a:rPr lang="en-US" sz="3500">
                <a:solidFill>
                  <a:srgbClr val="2F6359"/>
                </a:solidFill>
                <a:latin typeface="Agrandir"/>
                <a:ea typeface="Agrandir"/>
                <a:cs typeface="Agrandir"/>
                <a:sym typeface="Agrandir"/>
              </a:rPr>
              <a:t>Se generaron predicciones de ventas futuras basadas en datos históricos.</a:t>
            </a:r>
          </a:p>
        </p:txBody>
      </p:sp>
      <p:sp>
        <p:nvSpPr>
          <p:cNvPr id="6" name="TextBox 6"/>
          <p:cNvSpPr txBox="1"/>
          <p:nvPr/>
        </p:nvSpPr>
        <p:spPr>
          <a:xfrm>
            <a:off x="1841555" y="7735909"/>
            <a:ext cx="15417745" cy="2241550"/>
          </a:xfrm>
          <a:prstGeom prst="rect">
            <a:avLst/>
          </a:prstGeom>
        </p:spPr>
        <p:txBody>
          <a:bodyPr lIns="0" tIns="0" rIns="0" bIns="0" rtlCol="0" anchor="t">
            <a:spAutoFit/>
          </a:bodyPr>
          <a:lstStyle/>
          <a:p>
            <a:pPr algn="just">
              <a:lnSpc>
                <a:spcPts val="3499"/>
              </a:lnSpc>
              <a:spcBef>
                <a:spcPct val="0"/>
              </a:spcBef>
            </a:pPr>
            <a:r>
              <a:rPr lang="en-US" sz="2499">
                <a:solidFill>
                  <a:srgbClr val="091713"/>
                </a:solidFill>
                <a:latin typeface="Agrandir"/>
                <a:ea typeface="Agrandir"/>
                <a:cs typeface="Agrandir"/>
                <a:sym typeface="Agrandir"/>
              </a:rPr>
              <a:t>A partir del análisis gráfico de las ventas semanales, no se identifican patrones estacionales claramente definidos, pero sí una estructura temporal con variaciones moderadas. Por ello, se opta por un modelo ARIMA, que se considera adecuado para capturar series sin estacionalidad marcada.</a:t>
            </a:r>
          </a:p>
          <a:p>
            <a:pPr algn="just">
              <a:lnSpc>
                <a:spcPts val="3499"/>
              </a:lnSpc>
              <a:spcBef>
                <a:spcPct val="0"/>
              </a:spcBef>
            </a:pPr>
            <a:r>
              <a:rPr lang="en-US" sz="2499">
                <a:solidFill>
                  <a:srgbClr val="091713"/>
                </a:solidFill>
                <a:latin typeface="Agrandir"/>
                <a:ea typeface="Agrandir"/>
                <a:cs typeface="Agrandir"/>
                <a:sym typeface="Agrandir"/>
              </a:rPr>
              <a:t>Este modelo permitió estimar el comportamiento futuro de las ventas, proporcionando una base para la toma de decisiones.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691084" y="1028700"/>
            <a:ext cx="9806467" cy="4523233"/>
          </a:xfrm>
          <a:custGeom>
            <a:avLst/>
            <a:gdLst/>
            <a:ahLst/>
            <a:cxnLst/>
            <a:rect l="l" t="t" r="r" b="b"/>
            <a:pathLst>
              <a:path w="9806467" h="4523233">
                <a:moveTo>
                  <a:pt x="0" y="0"/>
                </a:moveTo>
                <a:lnTo>
                  <a:pt x="9806467" y="0"/>
                </a:lnTo>
                <a:lnTo>
                  <a:pt x="9806467" y="4523233"/>
                </a:lnTo>
                <a:lnTo>
                  <a:pt x="0" y="4523233"/>
                </a:lnTo>
                <a:lnTo>
                  <a:pt x="0" y="0"/>
                </a:lnTo>
                <a:close/>
              </a:path>
            </a:pathLst>
          </a:custGeom>
          <a:blipFill>
            <a:blip r:embed="rId3"/>
            <a:stretch>
              <a:fillRect/>
            </a:stretch>
          </a:blipFill>
        </p:spPr>
        <p:txBody>
          <a:bodyPr/>
          <a:lstStyle/>
          <a:p>
            <a:endParaRPr lang="en-US"/>
          </a:p>
        </p:txBody>
      </p:sp>
      <p:sp>
        <p:nvSpPr>
          <p:cNvPr id="4" name="Freeform 4"/>
          <p:cNvSpPr/>
          <p:nvPr/>
        </p:nvSpPr>
        <p:spPr>
          <a:xfrm>
            <a:off x="8159514" y="5551933"/>
            <a:ext cx="10128486" cy="4735067"/>
          </a:xfrm>
          <a:custGeom>
            <a:avLst/>
            <a:gdLst/>
            <a:ahLst/>
            <a:cxnLst/>
            <a:rect l="l" t="t" r="r" b="b"/>
            <a:pathLst>
              <a:path w="10128486" h="4735067">
                <a:moveTo>
                  <a:pt x="0" y="0"/>
                </a:moveTo>
                <a:lnTo>
                  <a:pt x="10128486" y="0"/>
                </a:lnTo>
                <a:lnTo>
                  <a:pt x="10128486" y="4735067"/>
                </a:lnTo>
                <a:lnTo>
                  <a:pt x="0" y="4735067"/>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4146827" y="-180975"/>
            <a:ext cx="9994345" cy="1209675"/>
          </a:xfrm>
          <a:prstGeom prst="rect">
            <a:avLst/>
          </a:prstGeom>
        </p:spPr>
        <p:txBody>
          <a:bodyPr lIns="0" tIns="0" rIns="0" bIns="0" rtlCol="0" anchor="t">
            <a:spAutoFit/>
          </a:bodyPr>
          <a:lstStyle/>
          <a:p>
            <a:pPr algn="l">
              <a:lnSpc>
                <a:spcPts val="8400"/>
              </a:lnSpc>
              <a:spcBef>
                <a:spcPct val="0"/>
              </a:spcBef>
            </a:pPr>
            <a:r>
              <a:rPr lang="en-US" sz="6000"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PREDICCIÓN DE VENTAS</a:t>
            </a:r>
          </a:p>
        </p:txBody>
      </p:sp>
      <p:sp>
        <p:nvSpPr>
          <p:cNvPr id="6" name="TextBox 6"/>
          <p:cNvSpPr txBox="1"/>
          <p:nvPr/>
        </p:nvSpPr>
        <p:spPr>
          <a:xfrm>
            <a:off x="1298141" y="6741541"/>
            <a:ext cx="6610037" cy="1803400"/>
          </a:xfrm>
          <a:prstGeom prst="rect">
            <a:avLst/>
          </a:prstGeom>
        </p:spPr>
        <p:txBody>
          <a:bodyPr lIns="0" tIns="0" rIns="0" bIns="0" rtlCol="0" anchor="t">
            <a:spAutoFit/>
          </a:bodyPr>
          <a:lstStyle/>
          <a:p>
            <a:pPr algn="ctr">
              <a:lnSpc>
                <a:spcPts val="3499"/>
              </a:lnSpc>
              <a:spcBef>
                <a:spcPct val="0"/>
              </a:spcBef>
            </a:pPr>
            <a:r>
              <a:rPr lang="en-US" sz="2499" b="1">
                <a:solidFill>
                  <a:srgbClr val="091713"/>
                </a:solidFill>
                <a:latin typeface="Agrandir Bold"/>
                <a:ea typeface="Agrandir Bold"/>
                <a:cs typeface="Agrandir Bold"/>
                <a:sym typeface="Agrandir Bold"/>
              </a:rPr>
              <a:t>MAE </a:t>
            </a:r>
            <a:r>
              <a:rPr lang="en-US" sz="2499">
                <a:solidFill>
                  <a:srgbClr val="091713"/>
                </a:solidFill>
                <a:latin typeface="Agrandir"/>
                <a:ea typeface="Agrandir"/>
                <a:cs typeface="Agrandir"/>
                <a:sym typeface="Agrandir"/>
              </a:rPr>
              <a:t>OPTIMIZADO LYSOL: 0.47281249999999997</a:t>
            </a:r>
          </a:p>
          <a:p>
            <a:pPr algn="ctr">
              <a:lnSpc>
                <a:spcPts val="3499"/>
              </a:lnSpc>
              <a:spcBef>
                <a:spcPct val="0"/>
              </a:spcBef>
            </a:pPr>
            <a:r>
              <a:rPr lang="en-US" sz="2499" b="1">
                <a:solidFill>
                  <a:srgbClr val="091713"/>
                </a:solidFill>
                <a:latin typeface="Agrandir Bold"/>
                <a:ea typeface="Agrandir Bold"/>
                <a:cs typeface="Agrandir Bold"/>
                <a:sym typeface="Agrandir Bold"/>
              </a:rPr>
              <a:t>RMSE </a:t>
            </a:r>
            <a:r>
              <a:rPr lang="en-US" sz="2499">
                <a:solidFill>
                  <a:srgbClr val="091713"/>
                </a:solidFill>
                <a:latin typeface="Agrandir"/>
                <a:ea typeface="Agrandir"/>
                <a:cs typeface="Agrandir"/>
                <a:sym typeface="Agrandir"/>
              </a:rPr>
              <a:t>OPTIMIZADO LYSOL: 0.5636496584759012</a:t>
            </a:r>
          </a:p>
        </p:txBody>
      </p:sp>
      <p:sp>
        <p:nvSpPr>
          <p:cNvPr id="7" name="TextBox 7"/>
          <p:cNvSpPr txBox="1"/>
          <p:nvPr/>
        </p:nvSpPr>
        <p:spPr>
          <a:xfrm>
            <a:off x="10649263" y="1585065"/>
            <a:ext cx="6610037" cy="1803400"/>
          </a:xfrm>
          <a:prstGeom prst="rect">
            <a:avLst/>
          </a:prstGeom>
        </p:spPr>
        <p:txBody>
          <a:bodyPr lIns="0" tIns="0" rIns="0" bIns="0" rtlCol="0" anchor="t">
            <a:spAutoFit/>
          </a:bodyPr>
          <a:lstStyle/>
          <a:p>
            <a:pPr algn="ctr">
              <a:lnSpc>
                <a:spcPts val="3499"/>
              </a:lnSpc>
            </a:pPr>
            <a:r>
              <a:rPr lang="en-US" sz="2499" b="1">
                <a:solidFill>
                  <a:srgbClr val="091713"/>
                </a:solidFill>
                <a:latin typeface="Agrandir Bold"/>
                <a:ea typeface="Agrandir Bold"/>
                <a:cs typeface="Agrandir Bold"/>
                <a:sym typeface="Agrandir Bold"/>
              </a:rPr>
              <a:t>MAE </a:t>
            </a:r>
            <a:r>
              <a:rPr lang="en-US" sz="2499">
                <a:solidFill>
                  <a:srgbClr val="091713"/>
                </a:solidFill>
                <a:latin typeface="Agrandir"/>
                <a:ea typeface="Agrandir"/>
                <a:cs typeface="Agrandir"/>
                <a:sym typeface="Agrandir"/>
              </a:rPr>
              <a:t>OPTIMIZADO VANISH: 65.71680356928036</a:t>
            </a:r>
          </a:p>
          <a:p>
            <a:pPr algn="ctr">
              <a:lnSpc>
                <a:spcPts val="3499"/>
              </a:lnSpc>
              <a:spcBef>
                <a:spcPct val="0"/>
              </a:spcBef>
            </a:pPr>
            <a:r>
              <a:rPr lang="en-US" sz="2499">
                <a:solidFill>
                  <a:srgbClr val="091713"/>
                </a:solidFill>
                <a:latin typeface="Agrandir"/>
                <a:ea typeface="Agrandir"/>
                <a:cs typeface="Agrandir"/>
                <a:sym typeface="Agrandir"/>
              </a:rPr>
              <a:t> </a:t>
            </a:r>
            <a:r>
              <a:rPr lang="en-US" sz="2499" b="1">
                <a:solidFill>
                  <a:srgbClr val="091713"/>
                </a:solidFill>
                <a:latin typeface="Agrandir Bold"/>
                <a:ea typeface="Agrandir Bold"/>
                <a:cs typeface="Agrandir Bold"/>
                <a:sym typeface="Agrandir Bold"/>
              </a:rPr>
              <a:t>RMSE </a:t>
            </a:r>
            <a:r>
              <a:rPr lang="en-US" sz="2499">
                <a:solidFill>
                  <a:srgbClr val="091713"/>
                </a:solidFill>
                <a:latin typeface="Agrandir"/>
                <a:ea typeface="Agrandir"/>
                <a:cs typeface="Agrandir"/>
                <a:sym typeface="Agrandir"/>
              </a:rPr>
              <a:t>OPTIMIZADO VANISH: 85.22223158168977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13064057" y="2320760"/>
            <a:ext cx="20605972" cy="11601592"/>
          </a:xfrm>
          <a:custGeom>
            <a:avLst/>
            <a:gdLst/>
            <a:ahLst/>
            <a:cxnLst/>
            <a:rect l="l" t="t" r="r" b="b"/>
            <a:pathLst>
              <a:path w="20605972" h="11601592">
                <a:moveTo>
                  <a:pt x="20605973" y="11601592"/>
                </a:moveTo>
                <a:lnTo>
                  <a:pt x="0" y="11601592"/>
                </a:lnTo>
                <a:lnTo>
                  <a:pt x="0" y="0"/>
                </a:lnTo>
                <a:lnTo>
                  <a:pt x="20605973" y="0"/>
                </a:lnTo>
                <a:lnTo>
                  <a:pt x="20605973" y="11601592"/>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61622" y="3094351"/>
            <a:ext cx="5176845" cy="6811638"/>
          </a:xfrm>
          <a:custGeom>
            <a:avLst/>
            <a:gdLst/>
            <a:ahLst/>
            <a:cxnLst/>
            <a:rect l="l" t="t" r="r" b="b"/>
            <a:pathLst>
              <a:path w="5176845" h="6811638">
                <a:moveTo>
                  <a:pt x="0" y="0"/>
                </a:moveTo>
                <a:lnTo>
                  <a:pt x="5176845" y="0"/>
                </a:lnTo>
                <a:lnTo>
                  <a:pt x="5176845" y="6811638"/>
                </a:lnTo>
                <a:lnTo>
                  <a:pt x="0" y="6811638"/>
                </a:lnTo>
                <a:lnTo>
                  <a:pt x="0" y="0"/>
                </a:lnTo>
                <a:close/>
              </a:path>
            </a:pathLst>
          </a:custGeom>
          <a:blipFill>
            <a:blip r:embed="rId4"/>
            <a:stretch>
              <a:fillRect/>
            </a:stretch>
          </a:blipFill>
        </p:spPr>
        <p:txBody>
          <a:bodyPr/>
          <a:lstStyle/>
          <a:p>
            <a:endParaRPr lang="en-US"/>
          </a:p>
        </p:txBody>
      </p:sp>
      <p:sp>
        <p:nvSpPr>
          <p:cNvPr id="4" name="Freeform 4"/>
          <p:cNvSpPr/>
          <p:nvPr/>
        </p:nvSpPr>
        <p:spPr>
          <a:xfrm>
            <a:off x="6138467" y="3604156"/>
            <a:ext cx="11120833" cy="4230102"/>
          </a:xfrm>
          <a:custGeom>
            <a:avLst/>
            <a:gdLst/>
            <a:ahLst/>
            <a:cxnLst/>
            <a:rect l="l" t="t" r="r" b="b"/>
            <a:pathLst>
              <a:path w="11120833" h="4230102">
                <a:moveTo>
                  <a:pt x="0" y="0"/>
                </a:moveTo>
                <a:lnTo>
                  <a:pt x="11120833" y="0"/>
                </a:lnTo>
                <a:lnTo>
                  <a:pt x="11120833" y="4230102"/>
                </a:lnTo>
                <a:lnTo>
                  <a:pt x="0" y="4230102"/>
                </a:lnTo>
                <a:lnTo>
                  <a:pt x="0" y="0"/>
                </a:lnTo>
                <a:close/>
              </a:path>
            </a:pathLst>
          </a:custGeom>
          <a:blipFill>
            <a:blip r:embed="rId5"/>
            <a:stretch>
              <a:fillRect/>
            </a:stretch>
          </a:blipFill>
        </p:spPr>
        <p:txBody>
          <a:bodyPr/>
          <a:lstStyle/>
          <a:p>
            <a:endParaRPr lang="en-US"/>
          </a:p>
        </p:txBody>
      </p:sp>
      <p:sp>
        <p:nvSpPr>
          <p:cNvPr id="5" name="Freeform 5"/>
          <p:cNvSpPr/>
          <p:nvPr/>
        </p:nvSpPr>
        <p:spPr>
          <a:xfrm>
            <a:off x="1355142" y="7230801"/>
            <a:ext cx="4012660" cy="218872"/>
          </a:xfrm>
          <a:custGeom>
            <a:avLst/>
            <a:gdLst/>
            <a:ahLst/>
            <a:cxnLst/>
            <a:rect l="l" t="t" r="r" b="b"/>
            <a:pathLst>
              <a:path w="4012660" h="218872">
                <a:moveTo>
                  <a:pt x="0" y="0"/>
                </a:moveTo>
                <a:lnTo>
                  <a:pt x="4012659" y="0"/>
                </a:lnTo>
                <a:lnTo>
                  <a:pt x="4012659" y="218873"/>
                </a:lnTo>
                <a:lnTo>
                  <a:pt x="0" y="2188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1007008" y="196319"/>
            <a:ext cx="16252292" cy="1350437"/>
          </a:xfrm>
          <a:prstGeom prst="rect">
            <a:avLst/>
          </a:prstGeom>
        </p:spPr>
        <p:txBody>
          <a:bodyPr lIns="0" tIns="0" rIns="0" bIns="0" rtlCol="0" anchor="t">
            <a:spAutoFit/>
          </a:bodyPr>
          <a:lstStyle/>
          <a:p>
            <a:pPr algn="l">
              <a:lnSpc>
                <a:spcPts val="9566"/>
              </a:lnSpc>
              <a:spcBef>
                <a:spcPct val="0"/>
              </a:spcBef>
            </a:pPr>
            <a:r>
              <a:rPr lang="en-US" sz="6833"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Análisis en AWS con Cloud Computing</a:t>
            </a:r>
          </a:p>
        </p:txBody>
      </p:sp>
      <p:sp>
        <p:nvSpPr>
          <p:cNvPr id="7" name="TextBox 7"/>
          <p:cNvSpPr txBox="1"/>
          <p:nvPr/>
        </p:nvSpPr>
        <p:spPr>
          <a:xfrm>
            <a:off x="2542488" y="1403881"/>
            <a:ext cx="13203025" cy="1584536"/>
          </a:xfrm>
          <a:prstGeom prst="rect">
            <a:avLst/>
          </a:prstGeom>
        </p:spPr>
        <p:txBody>
          <a:bodyPr lIns="0" tIns="0" rIns="0" bIns="0" rtlCol="0" anchor="t">
            <a:spAutoFit/>
          </a:bodyPr>
          <a:lstStyle/>
          <a:p>
            <a:pPr algn="just">
              <a:lnSpc>
                <a:spcPts val="4200"/>
              </a:lnSpc>
            </a:pPr>
            <a:r>
              <a:rPr lang="en-US" sz="3000" dirty="0">
                <a:solidFill>
                  <a:srgbClr val="091713"/>
                </a:solidFill>
                <a:latin typeface="Agrandir"/>
                <a:ea typeface="Agrandir"/>
                <a:cs typeface="Agrandir"/>
                <a:sym typeface="Agrandir"/>
              </a:rPr>
              <a:t>Se </a:t>
            </a:r>
            <a:r>
              <a:rPr lang="en-US" sz="3000" dirty="0" err="1">
                <a:solidFill>
                  <a:srgbClr val="091713"/>
                </a:solidFill>
                <a:latin typeface="Agrandir"/>
                <a:ea typeface="Agrandir"/>
                <a:cs typeface="Agrandir"/>
                <a:sym typeface="Agrandir"/>
              </a:rPr>
              <a:t>creó</a:t>
            </a:r>
            <a:r>
              <a:rPr lang="en-US" sz="3000" dirty="0">
                <a:solidFill>
                  <a:srgbClr val="091713"/>
                </a:solidFill>
                <a:latin typeface="Agrandir"/>
                <a:ea typeface="Agrandir"/>
                <a:cs typeface="Agrandir"/>
                <a:sym typeface="Agrandir"/>
              </a:rPr>
              <a:t> </a:t>
            </a:r>
            <a:r>
              <a:rPr lang="en-US" sz="3000" dirty="0" err="1">
                <a:solidFill>
                  <a:srgbClr val="091713"/>
                </a:solidFill>
                <a:latin typeface="Agrandir"/>
                <a:ea typeface="Agrandir"/>
                <a:cs typeface="Agrandir"/>
                <a:sym typeface="Agrandir"/>
              </a:rPr>
              <a:t>una</a:t>
            </a:r>
            <a:r>
              <a:rPr lang="en-US" sz="3000" dirty="0">
                <a:solidFill>
                  <a:srgbClr val="091713"/>
                </a:solidFill>
                <a:latin typeface="Agrandir"/>
                <a:ea typeface="Agrandir"/>
                <a:cs typeface="Agrandir"/>
                <a:sym typeface="Agrandir"/>
              </a:rPr>
              <a:t> base de </a:t>
            </a:r>
            <a:r>
              <a:rPr lang="en-US" sz="3000" dirty="0" err="1">
                <a:solidFill>
                  <a:srgbClr val="091713"/>
                </a:solidFill>
                <a:latin typeface="Agrandir"/>
                <a:ea typeface="Agrandir"/>
                <a:cs typeface="Agrandir"/>
                <a:sym typeface="Agrandir"/>
              </a:rPr>
              <a:t>datos</a:t>
            </a:r>
            <a:r>
              <a:rPr lang="en-US" sz="3000" dirty="0">
                <a:solidFill>
                  <a:srgbClr val="091713"/>
                </a:solidFill>
                <a:latin typeface="Agrandir"/>
                <a:ea typeface="Agrandir"/>
                <a:cs typeface="Agrandir"/>
                <a:sym typeface="Agrandir"/>
              </a:rPr>
              <a:t> para </a:t>
            </a:r>
            <a:r>
              <a:rPr lang="en-US" sz="3000" dirty="0" err="1">
                <a:solidFill>
                  <a:srgbClr val="091713"/>
                </a:solidFill>
                <a:latin typeface="Agrandir"/>
                <a:ea typeface="Agrandir"/>
                <a:cs typeface="Agrandir"/>
                <a:sym typeface="Agrandir"/>
              </a:rPr>
              <a:t>organizar</a:t>
            </a:r>
            <a:r>
              <a:rPr lang="en-US" sz="3000" dirty="0">
                <a:solidFill>
                  <a:srgbClr val="091713"/>
                </a:solidFill>
                <a:latin typeface="Agrandir"/>
                <a:ea typeface="Agrandir"/>
                <a:cs typeface="Agrandir"/>
                <a:sym typeface="Agrandir"/>
              </a:rPr>
              <a:t> y </a:t>
            </a:r>
            <a:r>
              <a:rPr lang="en-US" sz="3000" dirty="0" err="1">
                <a:solidFill>
                  <a:srgbClr val="091713"/>
                </a:solidFill>
                <a:latin typeface="Agrandir"/>
                <a:ea typeface="Agrandir"/>
                <a:cs typeface="Agrandir"/>
                <a:sym typeface="Agrandir"/>
              </a:rPr>
              <a:t>catalogar</a:t>
            </a:r>
            <a:r>
              <a:rPr lang="en-US" sz="3000" dirty="0">
                <a:solidFill>
                  <a:srgbClr val="091713"/>
                </a:solidFill>
                <a:latin typeface="Agrandir"/>
                <a:ea typeface="Agrandir"/>
                <a:cs typeface="Agrandir"/>
                <a:sym typeface="Agrandir"/>
              </a:rPr>
              <a:t> </a:t>
            </a:r>
            <a:r>
              <a:rPr lang="en-US" sz="3000" dirty="0" err="1">
                <a:solidFill>
                  <a:srgbClr val="091713"/>
                </a:solidFill>
                <a:latin typeface="Agrandir"/>
                <a:ea typeface="Agrandir"/>
                <a:cs typeface="Agrandir"/>
                <a:sym typeface="Agrandir"/>
              </a:rPr>
              <a:t>los</a:t>
            </a:r>
            <a:r>
              <a:rPr lang="en-US" sz="3000" dirty="0">
                <a:solidFill>
                  <a:srgbClr val="091713"/>
                </a:solidFill>
                <a:latin typeface="Agrandir"/>
                <a:ea typeface="Agrandir"/>
                <a:cs typeface="Agrandir"/>
                <a:sym typeface="Agrandir"/>
              </a:rPr>
              <a:t> </a:t>
            </a:r>
            <a:r>
              <a:rPr lang="en-US" sz="3000" dirty="0" err="1">
                <a:solidFill>
                  <a:srgbClr val="091713"/>
                </a:solidFill>
                <a:latin typeface="Agrandir"/>
                <a:ea typeface="Agrandir"/>
                <a:cs typeface="Agrandir"/>
                <a:sym typeface="Agrandir"/>
              </a:rPr>
              <a:t>datos</a:t>
            </a:r>
            <a:r>
              <a:rPr lang="en-US" sz="3000" dirty="0">
                <a:solidFill>
                  <a:srgbClr val="091713"/>
                </a:solidFill>
                <a:latin typeface="Agrandir"/>
                <a:ea typeface="Agrandir"/>
                <a:cs typeface="Agrandir"/>
                <a:sym typeface="Agrandir"/>
              </a:rPr>
              <a:t> </a:t>
            </a:r>
            <a:r>
              <a:rPr lang="en-US" sz="3000" dirty="0" err="1">
                <a:solidFill>
                  <a:srgbClr val="091713"/>
                </a:solidFill>
                <a:latin typeface="Agrandir"/>
                <a:ea typeface="Agrandir"/>
                <a:cs typeface="Agrandir"/>
                <a:sym typeface="Agrandir"/>
              </a:rPr>
              <a:t>almacenados</a:t>
            </a:r>
            <a:r>
              <a:rPr lang="en-US" sz="3000" dirty="0">
                <a:solidFill>
                  <a:srgbClr val="091713"/>
                </a:solidFill>
                <a:latin typeface="Agrandir"/>
                <a:ea typeface="Agrandir"/>
                <a:cs typeface="Agrandir"/>
                <a:sym typeface="Agrandir"/>
              </a:rPr>
              <a:t> </a:t>
            </a:r>
            <a:r>
              <a:rPr lang="en-US" sz="3000" dirty="0" err="1">
                <a:solidFill>
                  <a:srgbClr val="091713"/>
                </a:solidFill>
                <a:latin typeface="Agrandir"/>
                <a:ea typeface="Agrandir"/>
                <a:cs typeface="Agrandir"/>
                <a:sym typeface="Agrandir"/>
              </a:rPr>
              <a:t>en</a:t>
            </a:r>
            <a:r>
              <a:rPr lang="en-US" sz="3000" dirty="0">
                <a:solidFill>
                  <a:srgbClr val="091713"/>
                </a:solidFill>
                <a:latin typeface="Agrandir"/>
                <a:ea typeface="Agrandir"/>
                <a:cs typeface="Agrandir"/>
                <a:sym typeface="Agrandir"/>
              </a:rPr>
              <a:t> S3, </a:t>
            </a:r>
            <a:r>
              <a:rPr lang="en-US" sz="3000" dirty="0" err="1">
                <a:solidFill>
                  <a:srgbClr val="091713"/>
                </a:solidFill>
                <a:latin typeface="Agrandir"/>
                <a:ea typeface="Agrandir"/>
                <a:cs typeface="Agrandir"/>
                <a:sym typeface="Agrandir"/>
              </a:rPr>
              <a:t>permitiendo</a:t>
            </a:r>
            <a:r>
              <a:rPr lang="en-US" sz="3000" dirty="0">
                <a:solidFill>
                  <a:srgbClr val="091713"/>
                </a:solidFill>
                <a:latin typeface="Agrandir"/>
                <a:ea typeface="Agrandir"/>
                <a:cs typeface="Agrandir"/>
                <a:sym typeface="Agrandir"/>
              </a:rPr>
              <a:t> </a:t>
            </a:r>
            <a:r>
              <a:rPr lang="en-US" sz="3000" dirty="0" err="1">
                <a:solidFill>
                  <a:srgbClr val="091713"/>
                </a:solidFill>
                <a:latin typeface="Agrandir"/>
                <a:ea typeface="Agrandir"/>
                <a:cs typeface="Agrandir"/>
                <a:sym typeface="Agrandir"/>
              </a:rPr>
              <a:t>su</a:t>
            </a:r>
            <a:r>
              <a:rPr lang="en-US" sz="3000" dirty="0">
                <a:solidFill>
                  <a:srgbClr val="091713"/>
                </a:solidFill>
                <a:latin typeface="Agrandir"/>
                <a:ea typeface="Agrandir"/>
                <a:cs typeface="Agrandir"/>
                <a:sym typeface="Agrandir"/>
              </a:rPr>
              <a:t> posterior consulta </a:t>
            </a:r>
            <a:r>
              <a:rPr lang="en-US" sz="3000" dirty="0" err="1">
                <a:solidFill>
                  <a:srgbClr val="091713"/>
                </a:solidFill>
                <a:latin typeface="Agrandir"/>
                <a:ea typeface="Agrandir"/>
                <a:cs typeface="Agrandir"/>
                <a:sym typeface="Agrandir"/>
              </a:rPr>
              <a:t>mediante</a:t>
            </a:r>
            <a:r>
              <a:rPr lang="en-US" sz="3000" dirty="0">
                <a:solidFill>
                  <a:srgbClr val="091713"/>
                </a:solidFill>
                <a:latin typeface="Agrandir"/>
                <a:ea typeface="Agrandir"/>
                <a:cs typeface="Agrandir"/>
                <a:sym typeface="Agrandir"/>
              </a:rPr>
              <a:t> Athena.</a:t>
            </a:r>
          </a:p>
          <a:p>
            <a:pPr algn="just">
              <a:lnSpc>
                <a:spcPts val="4200"/>
              </a:lnSpc>
              <a:spcBef>
                <a:spcPct val="0"/>
              </a:spcBef>
            </a:pPr>
            <a:endParaRPr lang="en-US" sz="3000" dirty="0">
              <a:solidFill>
                <a:srgbClr val="091713"/>
              </a:solidFill>
              <a:latin typeface="Agrandir"/>
              <a:ea typeface="Agrandir"/>
              <a:cs typeface="Agrandir"/>
              <a:sym typeface="Agrandir"/>
            </a:endParaRPr>
          </a:p>
        </p:txBody>
      </p:sp>
      <p:sp>
        <p:nvSpPr>
          <p:cNvPr id="8" name="Freeform 8"/>
          <p:cNvSpPr/>
          <p:nvPr/>
        </p:nvSpPr>
        <p:spPr>
          <a:xfrm>
            <a:off x="1355142" y="7902684"/>
            <a:ext cx="4012660" cy="218872"/>
          </a:xfrm>
          <a:custGeom>
            <a:avLst/>
            <a:gdLst/>
            <a:ahLst/>
            <a:cxnLst/>
            <a:rect l="l" t="t" r="r" b="b"/>
            <a:pathLst>
              <a:path w="4012660" h="218872">
                <a:moveTo>
                  <a:pt x="0" y="0"/>
                </a:moveTo>
                <a:lnTo>
                  <a:pt x="4012659" y="0"/>
                </a:lnTo>
                <a:lnTo>
                  <a:pt x="4012659" y="218872"/>
                </a:lnTo>
                <a:lnTo>
                  <a:pt x="0" y="21887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a:off x="1355142" y="8578756"/>
            <a:ext cx="4012660" cy="218872"/>
          </a:xfrm>
          <a:custGeom>
            <a:avLst/>
            <a:gdLst/>
            <a:ahLst/>
            <a:cxnLst/>
            <a:rect l="l" t="t" r="r" b="b"/>
            <a:pathLst>
              <a:path w="4012660" h="218872">
                <a:moveTo>
                  <a:pt x="0" y="0"/>
                </a:moveTo>
                <a:lnTo>
                  <a:pt x="4012659" y="0"/>
                </a:lnTo>
                <a:lnTo>
                  <a:pt x="4012659" y="218873"/>
                </a:lnTo>
                <a:lnTo>
                  <a:pt x="0" y="2188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13064057" y="2320760"/>
            <a:ext cx="20605972" cy="11601592"/>
          </a:xfrm>
          <a:custGeom>
            <a:avLst/>
            <a:gdLst/>
            <a:ahLst/>
            <a:cxnLst/>
            <a:rect l="l" t="t" r="r" b="b"/>
            <a:pathLst>
              <a:path w="20605972" h="11601592">
                <a:moveTo>
                  <a:pt x="20605973" y="11601592"/>
                </a:moveTo>
                <a:lnTo>
                  <a:pt x="0" y="11601592"/>
                </a:lnTo>
                <a:lnTo>
                  <a:pt x="0" y="0"/>
                </a:lnTo>
                <a:lnTo>
                  <a:pt x="20605973" y="0"/>
                </a:lnTo>
                <a:lnTo>
                  <a:pt x="20605973" y="1160159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781612" y="273299"/>
            <a:ext cx="12724776" cy="6346482"/>
          </a:xfrm>
          <a:custGeom>
            <a:avLst/>
            <a:gdLst/>
            <a:ahLst/>
            <a:cxnLst/>
            <a:rect l="l" t="t" r="r" b="b"/>
            <a:pathLst>
              <a:path w="12724776" h="6346482">
                <a:moveTo>
                  <a:pt x="0" y="0"/>
                </a:moveTo>
                <a:lnTo>
                  <a:pt x="12724776" y="0"/>
                </a:lnTo>
                <a:lnTo>
                  <a:pt x="12724776" y="6346482"/>
                </a:lnTo>
                <a:lnTo>
                  <a:pt x="0" y="634648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821375" y="6917087"/>
            <a:ext cx="16437925" cy="3117850"/>
          </a:xfrm>
          <a:prstGeom prst="rect">
            <a:avLst/>
          </a:prstGeom>
        </p:spPr>
        <p:txBody>
          <a:bodyPr lIns="0" tIns="0" rIns="0" bIns="0" rtlCol="0" anchor="t">
            <a:spAutoFit/>
          </a:bodyPr>
          <a:lstStyle/>
          <a:p>
            <a:pPr algn="just">
              <a:lnSpc>
                <a:spcPts val="3499"/>
              </a:lnSpc>
              <a:spcBef>
                <a:spcPct val="0"/>
              </a:spcBef>
            </a:pPr>
            <a:r>
              <a:rPr lang="en-US" sz="2499">
                <a:solidFill>
                  <a:srgbClr val="091713"/>
                </a:solidFill>
                <a:latin typeface="Agrandir"/>
                <a:ea typeface="Agrandir"/>
                <a:cs typeface="Agrandir"/>
                <a:sym typeface="Agrandir"/>
              </a:rPr>
              <a:t>Para el análisis en la nube se utilizó Amazon S3 como almacenamiento de datos, junto con Amazon Athena para la ejecución de consultas SQL directamente sobre los archivos.</a:t>
            </a:r>
          </a:p>
          <a:p>
            <a:pPr algn="just">
              <a:lnSpc>
                <a:spcPts val="3499"/>
              </a:lnSpc>
              <a:spcBef>
                <a:spcPct val="0"/>
              </a:spcBef>
            </a:pPr>
            <a:r>
              <a:rPr lang="en-US" sz="2499">
                <a:solidFill>
                  <a:srgbClr val="091713"/>
                </a:solidFill>
                <a:latin typeface="Agrandir"/>
                <a:ea typeface="Agrandir"/>
                <a:cs typeface="Agrandir"/>
                <a:sym typeface="Agrandir"/>
              </a:rPr>
              <a:t>Debido a limitaciones en la inferencia automática de esquema con AWS Glue, se optó por la creación manual de la tabla en Athena, lo que permitió un mayor control sobre los tipos de datos y una correcta interpretación del dataset.</a:t>
            </a:r>
          </a:p>
          <a:p>
            <a:pPr algn="just">
              <a:lnSpc>
                <a:spcPts val="3499"/>
              </a:lnSpc>
              <a:spcBef>
                <a:spcPct val="0"/>
              </a:spcBef>
            </a:pPr>
            <a:r>
              <a:rPr lang="en-US" sz="2499">
                <a:solidFill>
                  <a:srgbClr val="091713"/>
                </a:solidFill>
                <a:latin typeface="Agrandir"/>
                <a:ea typeface="Agrandir"/>
                <a:cs typeface="Agrandir"/>
                <a:sym typeface="Agrandir"/>
              </a:rPr>
              <a:t>A partir de esto, se realizaron consultas que permitieron obtener insights clave como ventas totales, y desempeño por región. </a:t>
            </a:r>
          </a:p>
        </p:txBody>
      </p:sp>
      <p:sp>
        <p:nvSpPr>
          <p:cNvPr id="5" name="Freeform 5"/>
          <p:cNvSpPr/>
          <p:nvPr/>
        </p:nvSpPr>
        <p:spPr>
          <a:xfrm>
            <a:off x="-165754" y="-165754"/>
            <a:ext cx="2388908" cy="2388908"/>
          </a:xfrm>
          <a:custGeom>
            <a:avLst/>
            <a:gdLst/>
            <a:ahLst/>
            <a:cxnLst/>
            <a:rect l="l" t="t" r="r" b="b"/>
            <a:pathLst>
              <a:path w="2388908" h="2388908">
                <a:moveTo>
                  <a:pt x="0" y="0"/>
                </a:moveTo>
                <a:lnTo>
                  <a:pt x="2388908" y="0"/>
                </a:lnTo>
                <a:lnTo>
                  <a:pt x="2388908" y="2388908"/>
                </a:lnTo>
                <a:lnTo>
                  <a:pt x="0" y="2388908"/>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13064057" y="2320760"/>
            <a:ext cx="20605972" cy="11601592"/>
          </a:xfrm>
          <a:custGeom>
            <a:avLst/>
            <a:gdLst/>
            <a:ahLst/>
            <a:cxnLst/>
            <a:rect l="l" t="t" r="r" b="b"/>
            <a:pathLst>
              <a:path w="20605972" h="11601592">
                <a:moveTo>
                  <a:pt x="20605973" y="11601592"/>
                </a:moveTo>
                <a:lnTo>
                  <a:pt x="0" y="11601592"/>
                </a:lnTo>
                <a:lnTo>
                  <a:pt x="0" y="0"/>
                </a:lnTo>
                <a:lnTo>
                  <a:pt x="20605973" y="0"/>
                </a:lnTo>
                <a:lnTo>
                  <a:pt x="20605973" y="1160159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9297474" y="2426808"/>
            <a:ext cx="5314544" cy="1125601"/>
          </a:xfrm>
          <a:custGeom>
            <a:avLst/>
            <a:gdLst/>
            <a:ahLst/>
            <a:cxnLst/>
            <a:rect l="l" t="t" r="r" b="b"/>
            <a:pathLst>
              <a:path w="5314544" h="1125601">
                <a:moveTo>
                  <a:pt x="0" y="0"/>
                </a:moveTo>
                <a:lnTo>
                  <a:pt x="5314544" y="0"/>
                </a:lnTo>
                <a:lnTo>
                  <a:pt x="5314544" y="1125600"/>
                </a:lnTo>
                <a:lnTo>
                  <a:pt x="0" y="1125600"/>
                </a:lnTo>
                <a:lnTo>
                  <a:pt x="0" y="0"/>
                </a:lnTo>
                <a:close/>
              </a:path>
            </a:pathLst>
          </a:custGeom>
          <a:blipFill>
            <a:blip r:embed="rId3"/>
            <a:stretch>
              <a:fillRect/>
            </a:stretch>
          </a:blipFill>
        </p:spPr>
        <p:txBody>
          <a:bodyPr/>
          <a:lstStyle/>
          <a:p>
            <a:endParaRPr lang="en-US"/>
          </a:p>
        </p:txBody>
      </p:sp>
      <p:sp>
        <p:nvSpPr>
          <p:cNvPr id="4" name="Freeform 4"/>
          <p:cNvSpPr/>
          <p:nvPr/>
        </p:nvSpPr>
        <p:spPr>
          <a:xfrm>
            <a:off x="9297474" y="7944917"/>
            <a:ext cx="5131480" cy="1063043"/>
          </a:xfrm>
          <a:custGeom>
            <a:avLst/>
            <a:gdLst/>
            <a:ahLst/>
            <a:cxnLst/>
            <a:rect l="l" t="t" r="r" b="b"/>
            <a:pathLst>
              <a:path w="5131480" h="1063043">
                <a:moveTo>
                  <a:pt x="0" y="0"/>
                </a:moveTo>
                <a:lnTo>
                  <a:pt x="5131480" y="0"/>
                </a:lnTo>
                <a:lnTo>
                  <a:pt x="5131480" y="1063043"/>
                </a:lnTo>
                <a:lnTo>
                  <a:pt x="0" y="1063043"/>
                </a:lnTo>
                <a:lnTo>
                  <a:pt x="0" y="0"/>
                </a:lnTo>
                <a:close/>
              </a:path>
            </a:pathLst>
          </a:custGeom>
          <a:blipFill>
            <a:blip r:embed="rId4"/>
            <a:stretch>
              <a:fillRect/>
            </a:stretch>
          </a:blipFill>
        </p:spPr>
        <p:txBody>
          <a:bodyPr/>
          <a:lstStyle/>
          <a:p>
            <a:endParaRPr lang="en-US"/>
          </a:p>
        </p:txBody>
      </p:sp>
      <p:sp>
        <p:nvSpPr>
          <p:cNvPr id="5" name="Freeform 5"/>
          <p:cNvSpPr/>
          <p:nvPr/>
        </p:nvSpPr>
        <p:spPr>
          <a:xfrm>
            <a:off x="9144000" y="3552408"/>
            <a:ext cx="8665139" cy="3513608"/>
          </a:xfrm>
          <a:custGeom>
            <a:avLst/>
            <a:gdLst/>
            <a:ahLst/>
            <a:cxnLst/>
            <a:rect l="l" t="t" r="r" b="b"/>
            <a:pathLst>
              <a:path w="8665139" h="3513608">
                <a:moveTo>
                  <a:pt x="0" y="0"/>
                </a:moveTo>
                <a:lnTo>
                  <a:pt x="8665139" y="0"/>
                </a:lnTo>
                <a:lnTo>
                  <a:pt x="8665139" y="3513609"/>
                </a:lnTo>
                <a:lnTo>
                  <a:pt x="0" y="3513609"/>
                </a:lnTo>
                <a:lnTo>
                  <a:pt x="0" y="0"/>
                </a:lnTo>
                <a:close/>
              </a:path>
            </a:pathLst>
          </a:custGeom>
          <a:blipFill>
            <a:blip r:embed="rId5"/>
            <a:stretch>
              <a:fillRect/>
            </a:stretch>
          </a:blipFill>
        </p:spPr>
        <p:txBody>
          <a:bodyPr/>
          <a:lstStyle/>
          <a:p>
            <a:endParaRPr lang="en-US"/>
          </a:p>
        </p:txBody>
      </p:sp>
      <p:sp>
        <p:nvSpPr>
          <p:cNvPr id="6" name="Freeform 6"/>
          <p:cNvSpPr/>
          <p:nvPr/>
        </p:nvSpPr>
        <p:spPr>
          <a:xfrm>
            <a:off x="9297474" y="9036535"/>
            <a:ext cx="2845355" cy="837783"/>
          </a:xfrm>
          <a:custGeom>
            <a:avLst/>
            <a:gdLst/>
            <a:ahLst/>
            <a:cxnLst/>
            <a:rect l="l" t="t" r="r" b="b"/>
            <a:pathLst>
              <a:path w="2845355" h="837783">
                <a:moveTo>
                  <a:pt x="0" y="0"/>
                </a:moveTo>
                <a:lnTo>
                  <a:pt x="2845355" y="0"/>
                </a:lnTo>
                <a:lnTo>
                  <a:pt x="2845355" y="837783"/>
                </a:lnTo>
                <a:lnTo>
                  <a:pt x="0" y="837783"/>
                </a:lnTo>
                <a:lnTo>
                  <a:pt x="0" y="0"/>
                </a:lnTo>
                <a:close/>
              </a:path>
            </a:pathLst>
          </a:custGeom>
          <a:blipFill>
            <a:blip r:embed="rId6"/>
            <a:stretch>
              <a:fillRect l="-157812" b="-4496"/>
            </a:stretch>
          </a:blipFill>
        </p:spPr>
        <p:txBody>
          <a:bodyPr/>
          <a:lstStyle/>
          <a:p>
            <a:endParaRPr lang="en-US"/>
          </a:p>
        </p:txBody>
      </p:sp>
      <p:sp>
        <p:nvSpPr>
          <p:cNvPr id="7" name="Freeform 7"/>
          <p:cNvSpPr/>
          <p:nvPr/>
        </p:nvSpPr>
        <p:spPr>
          <a:xfrm>
            <a:off x="609168" y="2379612"/>
            <a:ext cx="6486957" cy="745238"/>
          </a:xfrm>
          <a:custGeom>
            <a:avLst/>
            <a:gdLst/>
            <a:ahLst/>
            <a:cxnLst/>
            <a:rect l="l" t="t" r="r" b="b"/>
            <a:pathLst>
              <a:path w="6486957" h="745238">
                <a:moveTo>
                  <a:pt x="0" y="0"/>
                </a:moveTo>
                <a:lnTo>
                  <a:pt x="6486957" y="0"/>
                </a:lnTo>
                <a:lnTo>
                  <a:pt x="6486957" y="745238"/>
                </a:lnTo>
                <a:lnTo>
                  <a:pt x="0" y="745238"/>
                </a:lnTo>
                <a:lnTo>
                  <a:pt x="0" y="0"/>
                </a:lnTo>
                <a:close/>
              </a:path>
            </a:pathLst>
          </a:custGeom>
          <a:blipFill>
            <a:blip r:embed="rId7"/>
            <a:stretch>
              <a:fillRect/>
            </a:stretch>
          </a:blipFill>
        </p:spPr>
        <p:txBody>
          <a:bodyPr/>
          <a:lstStyle/>
          <a:p>
            <a:endParaRPr lang="en-US"/>
          </a:p>
        </p:txBody>
      </p:sp>
      <p:sp>
        <p:nvSpPr>
          <p:cNvPr id="8" name="Freeform 8"/>
          <p:cNvSpPr/>
          <p:nvPr/>
        </p:nvSpPr>
        <p:spPr>
          <a:xfrm>
            <a:off x="609168" y="3124850"/>
            <a:ext cx="3547939" cy="1514617"/>
          </a:xfrm>
          <a:custGeom>
            <a:avLst/>
            <a:gdLst/>
            <a:ahLst/>
            <a:cxnLst/>
            <a:rect l="l" t="t" r="r" b="b"/>
            <a:pathLst>
              <a:path w="3547939" h="1514617">
                <a:moveTo>
                  <a:pt x="0" y="0"/>
                </a:moveTo>
                <a:lnTo>
                  <a:pt x="3547939" y="0"/>
                </a:lnTo>
                <a:lnTo>
                  <a:pt x="3547939" y="1514617"/>
                </a:lnTo>
                <a:lnTo>
                  <a:pt x="0" y="1514617"/>
                </a:lnTo>
                <a:lnTo>
                  <a:pt x="0" y="0"/>
                </a:lnTo>
                <a:close/>
              </a:path>
            </a:pathLst>
          </a:custGeom>
          <a:blipFill>
            <a:blip r:embed="rId8"/>
            <a:stretch>
              <a:fillRect/>
            </a:stretch>
          </a:blipFill>
        </p:spPr>
        <p:txBody>
          <a:bodyPr/>
          <a:lstStyle/>
          <a:p>
            <a:endParaRPr lang="en-US"/>
          </a:p>
        </p:txBody>
      </p:sp>
      <p:sp>
        <p:nvSpPr>
          <p:cNvPr id="9" name="Freeform 9"/>
          <p:cNvSpPr/>
          <p:nvPr/>
        </p:nvSpPr>
        <p:spPr>
          <a:xfrm>
            <a:off x="609168" y="6356507"/>
            <a:ext cx="6486957" cy="686451"/>
          </a:xfrm>
          <a:custGeom>
            <a:avLst/>
            <a:gdLst/>
            <a:ahLst/>
            <a:cxnLst/>
            <a:rect l="l" t="t" r="r" b="b"/>
            <a:pathLst>
              <a:path w="6486957" h="686451">
                <a:moveTo>
                  <a:pt x="0" y="0"/>
                </a:moveTo>
                <a:lnTo>
                  <a:pt x="6486957" y="0"/>
                </a:lnTo>
                <a:lnTo>
                  <a:pt x="6486957" y="686451"/>
                </a:lnTo>
                <a:lnTo>
                  <a:pt x="0" y="686451"/>
                </a:lnTo>
                <a:lnTo>
                  <a:pt x="0" y="0"/>
                </a:lnTo>
                <a:close/>
              </a:path>
            </a:pathLst>
          </a:custGeom>
          <a:blipFill>
            <a:blip r:embed="rId9"/>
            <a:stretch>
              <a:fillRect/>
            </a:stretch>
          </a:blipFill>
        </p:spPr>
        <p:txBody>
          <a:bodyPr/>
          <a:lstStyle/>
          <a:p>
            <a:endParaRPr lang="en-US"/>
          </a:p>
        </p:txBody>
      </p:sp>
      <p:sp>
        <p:nvSpPr>
          <p:cNvPr id="10" name="Freeform 10"/>
          <p:cNvSpPr/>
          <p:nvPr/>
        </p:nvSpPr>
        <p:spPr>
          <a:xfrm>
            <a:off x="609168" y="7042958"/>
            <a:ext cx="3547939" cy="1517211"/>
          </a:xfrm>
          <a:custGeom>
            <a:avLst/>
            <a:gdLst/>
            <a:ahLst/>
            <a:cxnLst/>
            <a:rect l="l" t="t" r="r" b="b"/>
            <a:pathLst>
              <a:path w="3547939" h="1517211">
                <a:moveTo>
                  <a:pt x="0" y="0"/>
                </a:moveTo>
                <a:lnTo>
                  <a:pt x="3547939" y="0"/>
                </a:lnTo>
                <a:lnTo>
                  <a:pt x="3547939" y="1517210"/>
                </a:lnTo>
                <a:lnTo>
                  <a:pt x="0" y="1517210"/>
                </a:lnTo>
                <a:lnTo>
                  <a:pt x="0" y="0"/>
                </a:lnTo>
                <a:close/>
              </a:path>
            </a:pathLst>
          </a:custGeom>
          <a:blipFill>
            <a:blip r:embed="rId10"/>
            <a:stretch>
              <a:fillRect/>
            </a:stretch>
          </a:blipFill>
        </p:spPr>
        <p:txBody>
          <a:bodyPr/>
          <a:lstStyle/>
          <a:p>
            <a:endParaRPr lang="en-US"/>
          </a:p>
        </p:txBody>
      </p:sp>
      <p:sp>
        <p:nvSpPr>
          <p:cNvPr id="11" name="TextBox 11"/>
          <p:cNvSpPr txBox="1"/>
          <p:nvPr/>
        </p:nvSpPr>
        <p:spPr>
          <a:xfrm>
            <a:off x="819804" y="-86941"/>
            <a:ext cx="10900709" cy="1465549"/>
          </a:xfrm>
          <a:prstGeom prst="rect">
            <a:avLst/>
          </a:prstGeom>
        </p:spPr>
        <p:txBody>
          <a:bodyPr lIns="0" tIns="0" rIns="0" bIns="0" rtlCol="0" anchor="t">
            <a:spAutoFit/>
          </a:bodyPr>
          <a:lstStyle/>
          <a:p>
            <a:pPr algn="l">
              <a:lnSpc>
                <a:spcPts val="10266"/>
              </a:lnSpc>
              <a:spcBef>
                <a:spcPct val="0"/>
              </a:spcBef>
            </a:pPr>
            <a:r>
              <a:rPr lang="en-US" sz="7333"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Consultas en Athena</a:t>
            </a:r>
          </a:p>
        </p:txBody>
      </p:sp>
      <p:sp>
        <p:nvSpPr>
          <p:cNvPr id="12" name="TextBox 12"/>
          <p:cNvSpPr txBox="1"/>
          <p:nvPr/>
        </p:nvSpPr>
        <p:spPr>
          <a:xfrm>
            <a:off x="9297474" y="1511766"/>
            <a:ext cx="5047046" cy="862330"/>
          </a:xfrm>
          <a:prstGeom prst="rect">
            <a:avLst/>
          </a:prstGeom>
        </p:spPr>
        <p:txBody>
          <a:bodyPr lIns="0" tIns="0" rIns="0" bIns="0" rtlCol="0" anchor="t">
            <a:spAutoFit/>
          </a:bodyPr>
          <a:lstStyle/>
          <a:p>
            <a:pPr algn="just">
              <a:lnSpc>
                <a:spcPts val="6019"/>
              </a:lnSpc>
              <a:spcBef>
                <a:spcPct val="0"/>
              </a:spcBef>
            </a:pPr>
            <a:r>
              <a:rPr lang="en-US" sz="4299"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Ventas por región</a:t>
            </a:r>
          </a:p>
        </p:txBody>
      </p:sp>
      <p:sp>
        <p:nvSpPr>
          <p:cNvPr id="13" name="TextBox 13"/>
          <p:cNvSpPr txBox="1"/>
          <p:nvPr/>
        </p:nvSpPr>
        <p:spPr>
          <a:xfrm>
            <a:off x="1074155" y="1517282"/>
            <a:ext cx="5047046" cy="862330"/>
          </a:xfrm>
          <a:prstGeom prst="rect">
            <a:avLst/>
          </a:prstGeom>
        </p:spPr>
        <p:txBody>
          <a:bodyPr lIns="0" tIns="0" rIns="0" bIns="0" rtlCol="0" anchor="t">
            <a:spAutoFit/>
          </a:bodyPr>
          <a:lstStyle/>
          <a:p>
            <a:pPr algn="just">
              <a:lnSpc>
                <a:spcPts val="6019"/>
              </a:lnSpc>
              <a:spcBef>
                <a:spcPct val="0"/>
              </a:spcBef>
            </a:pPr>
            <a:r>
              <a:rPr lang="en-US" sz="4299"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Ventas totales</a:t>
            </a:r>
          </a:p>
        </p:txBody>
      </p:sp>
      <p:sp>
        <p:nvSpPr>
          <p:cNvPr id="14" name="TextBox 14"/>
          <p:cNvSpPr txBox="1"/>
          <p:nvPr/>
        </p:nvSpPr>
        <p:spPr>
          <a:xfrm>
            <a:off x="665821" y="5306217"/>
            <a:ext cx="5047046" cy="862330"/>
          </a:xfrm>
          <a:prstGeom prst="rect">
            <a:avLst/>
          </a:prstGeom>
        </p:spPr>
        <p:txBody>
          <a:bodyPr lIns="0" tIns="0" rIns="0" bIns="0" rtlCol="0" anchor="t">
            <a:spAutoFit/>
          </a:bodyPr>
          <a:lstStyle/>
          <a:p>
            <a:pPr algn="just">
              <a:lnSpc>
                <a:spcPts val="6019"/>
              </a:lnSpc>
              <a:spcBef>
                <a:spcPct val="0"/>
              </a:spcBef>
            </a:pPr>
            <a:r>
              <a:rPr lang="en-US" sz="4299"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Unidades vendidas</a:t>
            </a:r>
          </a:p>
        </p:txBody>
      </p:sp>
      <p:sp>
        <p:nvSpPr>
          <p:cNvPr id="15" name="TextBox 15"/>
          <p:cNvSpPr txBox="1"/>
          <p:nvPr/>
        </p:nvSpPr>
        <p:spPr>
          <a:xfrm>
            <a:off x="9297474" y="7082587"/>
            <a:ext cx="6223497" cy="862330"/>
          </a:xfrm>
          <a:prstGeom prst="rect">
            <a:avLst/>
          </a:prstGeom>
        </p:spPr>
        <p:txBody>
          <a:bodyPr lIns="0" tIns="0" rIns="0" bIns="0" rtlCol="0" anchor="t">
            <a:spAutoFit/>
          </a:bodyPr>
          <a:lstStyle/>
          <a:p>
            <a:pPr algn="just">
              <a:lnSpc>
                <a:spcPts val="6019"/>
              </a:lnSpc>
              <a:spcBef>
                <a:spcPct val="0"/>
              </a:spcBef>
            </a:pPr>
            <a:r>
              <a:rPr lang="en-US" sz="4299" b="1">
                <a:gradFill>
                  <a:gsLst>
                    <a:gs pos="0">
                      <a:srgbClr val="2F6359">
                        <a:alpha val="100000"/>
                      </a:srgbClr>
                    </a:gs>
                    <a:gs pos="100000">
                      <a:srgbClr val="6EC8BD">
                        <a:alpha val="100000"/>
                      </a:srgbClr>
                    </a:gs>
                  </a:gsLst>
                  <a:lin ang="0"/>
                </a:gradFill>
                <a:latin typeface="Agrandir Bold"/>
                <a:ea typeface="Agrandir Bold"/>
                <a:cs typeface="Agrandir Bold"/>
                <a:sym typeface="Agrandir Bold"/>
              </a:rPr>
              <a:t>Ventas por categoría</a:t>
            </a:r>
          </a:p>
        </p:txBody>
      </p:sp>
      <p:sp>
        <p:nvSpPr>
          <p:cNvPr id="16" name="TextBox 16"/>
          <p:cNvSpPr txBox="1"/>
          <p:nvPr/>
        </p:nvSpPr>
        <p:spPr>
          <a:xfrm>
            <a:off x="218875" y="8798293"/>
            <a:ext cx="8693094" cy="927100"/>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Agrandir"/>
                <a:ea typeface="Agrandir"/>
                <a:cs typeface="Agrandir"/>
                <a:sym typeface="Agrandir"/>
              </a:rPr>
              <a:t>Esto permitió analizar grandes volúmenes de datos de manera eficiente sin necesidad de procesamiento local.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8201190" y="1940385"/>
            <a:ext cx="11378318" cy="6406230"/>
          </a:xfrm>
          <a:custGeom>
            <a:avLst/>
            <a:gdLst/>
            <a:ahLst/>
            <a:cxnLst/>
            <a:rect l="l" t="t" r="r" b="b"/>
            <a:pathLst>
              <a:path w="11378318" h="6406230">
                <a:moveTo>
                  <a:pt x="0" y="0"/>
                </a:moveTo>
                <a:lnTo>
                  <a:pt x="11378318" y="0"/>
                </a:lnTo>
                <a:lnTo>
                  <a:pt x="11378318" y="6406230"/>
                </a:lnTo>
                <a:lnTo>
                  <a:pt x="0" y="64062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3816869" y="-1565715"/>
            <a:ext cx="4964197" cy="4964197"/>
          </a:xfrm>
          <a:custGeom>
            <a:avLst/>
            <a:gdLst/>
            <a:ahLst/>
            <a:cxnLst/>
            <a:rect l="l" t="t" r="r" b="b"/>
            <a:pathLst>
              <a:path w="4964197" h="4964197">
                <a:moveTo>
                  <a:pt x="0" y="0"/>
                </a:moveTo>
                <a:lnTo>
                  <a:pt x="4964197" y="0"/>
                </a:lnTo>
                <a:lnTo>
                  <a:pt x="4964197" y="4964197"/>
                </a:lnTo>
                <a:lnTo>
                  <a:pt x="0" y="4964197"/>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TextBox 4"/>
          <p:cNvSpPr txBox="1"/>
          <p:nvPr/>
        </p:nvSpPr>
        <p:spPr>
          <a:xfrm>
            <a:off x="1468122" y="714375"/>
            <a:ext cx="4853557" cy="1301750"/>
          </a:xfrm>
          <a:prstGeom prst="rect">
            <a:avLst/>
          </a:prstGeom>
        </p:spPr>
        <p:txBody>
          <a:bodyPr lIns="0" tIns="0" rIns="0" bIns="0" rtlCol="0" anchor="t">
            <a:spAutoFit/>
          </a:bodyPr>
          <a:lstStyle/>
          <a:p>
            <a:pPr algn="l">
              <a:lnSpc>
                <a:spcPts val="9100"/>
              </a:lnSpc>
              <a:spcBef>
                <a:spcPct val="0"/>
              </a:spcBef>
            </a:pPr>
            <a:r>
              <a:rPr lang="en-US" sz="6500" b="1">
                <a:solidFill>
                  <a:srgbClr val="1C4439"/>
                </a:solidFill>
                <a:latin typeface="Agrandir Bold"/>
                <a:ea typeface="Agrandir Bold"/>
                <a:cs typeface="Agrandir Bold"/>
                <a:sym typeface="Agrandir Bold"/>
              </a:rPr>
              <a:t>Conclusión</a:t>
            </a:r>
          </a:p>
        </p:txBody>
      </p:sp>
      <p:sp>
        <p:nvSpPr>
          <p:cNvPr id="5" name="TextBox 5"/>
          <p:cNvSpPr txBox="1"/>
          <p:nvPr/>
        </p:nvSpPr>
        <p:spPr>
          <a:xfrm>
            <a:off x="1028700" y="1950322"/>
            <a:ext cx="15788527" cy="8547100"/>
          </a:xfrm>
          <a:prstGeom prst="rect">
            <a:avLst/>
          </a:prstGeom>
        </p:spPr>
        <p:txBody>
          <a:bodyPr lIns="0" tIns="0" rIns="0" bIns="0" rtlCol="0" anchor="t">
            <a:spAutoFit/>
          </a:bodyPr>
          <a:lstStyle/>
          <a:p>
            <a:pPr algn="just">
              <a:lnSpc>
                <a:spcPts val="5599"/>
              </a:lnSpc>
            </a:pPr>
            <a:r>
              <a:rPr lang="en-US" sz="3999">
                <a:solidFill>
                  <a:srgbClr val="000000"/>
                </a:solidFill>
                <a:latin typeface="Agrandir"/>
                <a:ea typeface="Agrandir"/>
                <a:cs typeface="Agrandir"/>
                <a:sym typeface="Agrandir"/>
              </a:rPr>
              <a:t>A lo largo del proyecto se logró analizar el comportamiento de las ventas desde diferentes enfoques, identificando patrones clave en categorías, regiones y segmentos.</a:t>
            </a:r>
          </a:p>
          <a:p>
            <a:pPr algn="just">
              <a:lnSpc>
                <a:spcPts val="5599"/>
              </a:lnSpc>
            </a:pPr>
            <a:r>
              <a:rPr lang="en-US" sz="3999">
                <a:solidFill>
                  <a:srgbClr val="000000"/>
                </a:solidFill>
                <a:latin typeface="Agrandir"/>
                <a:ea typeface="Agrandir"/>
                <a:cs typeface="Agrandir"/>
                <a:sym typeface="Agrandir"/>
              </a:rPr>
              <a:t>Se detectó que el negocio depende en gran medida de ciertos productos y mercados específicos, lo que representa una oportunidad para enfocar estrategias comerciales.</a:t>
            </a:r>
          </a:p>
          <a:p>
            <a:pPr algn="just">
              <a:lnSpc>
                <a:spcPts val="5599"/>
              </a:lnSpc>
            </a:pPr>
            <a:r>
              <a:rPr lang="en-US" sz="3999">
                <a:solidFill>
                  <a:srgbClr val="000000"/>
                </a:solidFill>
                <a:latin typeface="Agrandir"/>
                <a:ea typeface="Agrandir"/>
                <a:cs typeface="Agrandir"/>
                <a:sym typeface="Agrandir"/>
              </a:rPr>
              <a:t>Además, mediante modelos de predicción, fue posible estimar tendencias futuras, lo que puede apoyar la toma de decisiones.</a:t>
            </a:r>
          </a:p>
          <a:p>
            <a:pPr algn="just">
              <a:lnSpc>
                <a:spcPts val="5599"/>
              </a:lnSpc>
            </a:pPr>
            <a:r>
              <a:rPr lang="en-US" sz="3999">
                <a:solidFill>
                  <a:srgbClr val="000000"/>
                </a:solidFill>
                <a:latin typeface="Agrandir"/>
                <a:ea typeface="Agrandir"/>
                <a:cs typeface="Agrandir"/>
                <a:sym typeface="Agrandir"/>
              </a:rPr>
              <a:t>En conjunto, este proyecto demuestra cómo el análisis de datos permite transformar información en insights útiles para el negocio.</a:t>
            </a:r>
          </a:p>
          <a:p>
            <a:pPr algn="just">
              <a:lnSpc>
                <a:spcPts val="5599"/>
              </a:lnSpc>
              <a:spcBef>
                <a:spcPct val="0"/>
              </a:spcBef>
            </a:pPr>
            <a:endParaRPr lang="en-US" sz="3999">
              <a:solidFill>
                <a:srgbClr val="000000"/>
              </a:solidFill>
              <a:latin typeface="Agrandir"/>
              <a:ea typeface="Agrandir"/>
              <a:cs typeface="Agrandir"/>
              <a:sym typeface="Agrandi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1072</Words>
  <Application>Microsoft Office PowerPoint</Application>
  <PresentationFormat>Custom</PresentationFormat>
  <Paragraphs>205</Paragraphs>
  <Slides>22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Agrandir Medium</vt:lpstr>
      <vt:lpstr>Open Sans Bold</vt:lpstr>
      <vt:lpstr>Open Sans</vt:lpstr>
      <vt:lpstr>Calibri</vt:lpstr>
      <vt:lpstr>Agrandir Bold</vt:lpstr>
      <vt:lpstr>Arial</vt:lpstr>
      <vt:lpstr>Agrandir</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Entregable final proyecto empresa aliada</dc:title>
  <cp:lastModifiedBy>Dayhana Erendida Quintero Cordova</cp:lastModifiedBy>
  <cp:revision>2</cp:revision>
  <dcterms:created xsi:type="dcterms:W3CDTF">2006-08-16T00:00:00Z</dcterms:created>
  <dcterms:modified xsi:type="dcterms:W3CDTF">2026-04-08T00:28:11Z</dcterms:modified>
  <dc:identifier>DAHGIJBL7Xw</dc:identifier>
</cp:coreProperties>
</file>